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standalone="yes"?>
<p:sld xmlns:a="http://schemas.openxmlformats.org/drawingml/2006/main" xmlns:r="http://schemas.openxmlformats.org/officeDocument/2006/relationships" xmlns:p="http://schemas.openxmlformats.org/presentationml/2006/main"><p:cSld name="Slide 1"><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is a cycling super-app that unifies navigation, safety, tracking, tax automation, marketplace, family, and community features into one platform built specifically for urban cyclists in Denmark.</a:t></a:r><a:endParaRPr lang="en-US" sz="1600" dirty="0"/></a:p></p:txBody></p:sp><p:sp><p:nvSpPr><p:cNvPr id="4" name="Text 2"></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5" name="Text 3"></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2.xml><?xml version="1.0" encoding="UTF-8" standalone="yes"?>
<p:sld xmlns:a="http://schemas.openxmlformats.org/drawingml/2006/main" xmlns:r="http://schemas.openxmlformats.org/officeDocument/2006/relationships" xmlns:p="http://schemas.openxmlformats.org/presentationml/2006/main"><p:cSld name="Slide 2"><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The Problem</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What challenge are we addressing?</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Urban cyclists currently rely on multiple fragmented apps for navigation, ride tracking, tax reporting, safety, marketplace transactions, repair services, and social cycling experiences. Existing platforms are either generic, fitness-focused, or not localized for the real daily cycling experience in Denmark. This fragmentation creates friction, lower safety, poor convenience, and missed opportunities for users and local cycling businesses.</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3.xml><?xml version="1.0" encoding="UTF-8" standalone="yes"?>
<p:sld xmlns:a="http://schemas.openxmlformats.org/drawingml/2006/main" xmlns:r="http://schemas.openxmlformats.org/officeDocument/2006/relationships" xmlns:p="http://schemas.openxmlformats.org/presentationml/2006/main"><p:cSld name="Slide 3"><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Our Solution</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is a Denmark-first cycling super-app designed to become the digital operating system for urban cycling. The platform combines smart bike navigation, ride tracking, tax automation, marketplace capabilities, repair and charging services, safety tools, family tracking, and community experiences into one unified mobile application.</a:t></a:r><a:endParaRPr lang="en-US" sz="14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combines the entire cycling ecosystem into one seamless platform. Users can navigate with bike-first smart routing, automatically calculate SKAT commute deductions, track rides, join events, access family safety features, connect with service providers, buy and sell bikes, and manage their cycling lifestyle through a single application optimized for Denmark’s urban cycling culture.</a:t></a:r><a:endParaRPr lang="en-US" sz="1400" dirty="0"/></a:p></p:txBody></p:sp><p:sp><p:nvSpPr><p:cNvPr id="5" name="Text 3"></p:cNvPr><p:cNvSpPr/><p:nvPr></p:nvPr></p:nvSpPr><p:spPr><a:xfrm><a:off x="731502" y="3566160"/><a:ext cx="10728692" cy="2743200"/></a:xfrm><a:prstGeom prst="rect"><a:avLst></a:avLst></a:prstGeom><a:noFill/><a:ln></a:ln></p:spPr><p:txBody><a:bodyPr wrap="square" lIns="0" tIns="0" rIns="0" bIns="0" rtlCol="0" anchor="t"><a:normAutofit/></a:bodyPr><a:lstStyle/><a:p><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combines the entire cycling ecosystem into one seamless platform</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Users can navigate with bike-first smart routing</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automatically calculate SKAT commute deductions</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track rides</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join events</a:t></a:r><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access family safety features</a:t></a:r><a:endParaRPr lang="en-US" sz="1400" dirty="0"/></a:p></p:txBody></p:sp><p:sp><p:nvSpPr><p:cNvPr id="6" name="Text 4"></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7" name="Text 5"></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4.xml><?xml version="1.0" encoding="UTF-8" standalone="yes"?>
<p:sld xmlns:a="http://schemas.openxmlformats.org/drawingml/2006/main" xmlns:r="http://schemas.openxmlformats.org/officeDocument/2006/relationships" xmlns:p="http://schemas.openxmlformats.org/presentationml/2006/main"><p:cSld name="Slide 4"><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Market Opportunity</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TAM • SAM • SOM</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TAM: €28B global cycling digital ecosystem SAM: €8.4B European urban cycling market SOM: €420M long-term Nordic and Denmark opportunity The market is rapidly expanding due to: Urban sustainability initiatives Increased cycling infrastructure investment E-bike adoption growth Reduced dependence on cars Growing demand for healthier urban transportation</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5.xml><?xml version="1.0" encoding="UTF-8" standalone="yes"?>
<p:sld xmlns:a="http://schemas.openxmlformats.org/drawingml/2006/main" xmlns:r="http://schemas.openxmlformats.org/officeDocument/2006/relationships" xmlns:p="http://schemas.openxmlformats.org/presentationml/2006/main"><p:cSld name="Slide 5"><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Business Model</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How we make money</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Current Revenue: Individual subscriptions Family subscriptions Future Revenue Streams: Marketplace commissions Service booking fees Advertising for free users B2B/B2G data insights API and white-label platform services</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6.xml><?xml version="1.0" encoding="UTF-8" standalone="yes"?>
<p:sld xmlns:a="http://schemas.openxmlformats.org/drawingml/2006/main" xmlns:r="http://schemas.openxmlformats.org/officeDocument/2006/relationships" xmlns:p="http://schemas.openxmlformats.org/presentationml/2006/main"><p:cSld name="Slide 6"><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Traction &amp; Metrics</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Our progress so far</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Production-ready application Full MVP completed 5,000+ pre-launch waitlist and early community interest Subscription infrastructure implemented 4.7 app testing feedback Strong projected retention based on daily utility usage Preparing for Copenhagen launch</a:t></a:r><a:endParaRPr lang="en-US" sz="1400" dirty="0"/></a:p></p:txBody></p:sp><p:sp><p:nvSpPr><p:cNvPr id="5" name="Text 3"></p:cNvPr><p:cNvSpPr/><p:nvPr></p:nvPr></p:nvSpPr><p:spPr><a:xfrm><a:off x="731502" y="3566160"/><a:ext cx="3332397" cy="528066"/></a:xfrm><a:prstGeom prst="rect"><a:avLst></a:avLst></a:prstGeom><a:noFill/><a:ln></a:ln></p:spPr><p:txBody><a:bodyPr wrap="square" lIns="0" tIns="0" rIns="0" bIns="0" rtlCol="0" anchor="ctr"><a:normAutofit/></a:bodyPr><a:lstStyle/><a:p><a:pPr indent="0" marL="0"><a:buNone/></a:pPr><a:r><a:rPr lang="en-US" sz="10000" b="1" dirty="0"><a:solidFill><a:srgbClr val="DC2626"/></a:solidFill></a:rPr><a:t>1,000+</a:t></a:r><a:endParaRPr lang="en-US" sz="10000" dirty="0"/></a:p></p:txBody></p:sp><p:sp><p:nvSpPr><p:cNvPr id="6" name="Text 4"></p:cNvPr><p:cNvSpPr/><p:nvPr></p:nvPr></p:nvSpPr><p:spPr><a:xfrm><a:off x="731502" y="4094226"/><a:ext cx="3332397" cy="240030"/></a:xfrm><a:prstGeom prst="rect"><a:avLst></a:avLst></a:prstGeom><a:noFill/><a:ln></a:ln></p:spPr><p:txBody><a:bodyPr wrap="square" rtlCol="0" anchor="ctr"></a:bodyPr><a:lstStyle/><a:p><a:pPr indent="0" marL="0"><a:buNone/></a:pPr><a:r><a:rPr lang="en-US" sz="1200" dirty="0"><a:solidFill><a:srgbClr val="6B7280"/></a:solidFill></a:rPr><a:t>Active Users</a:t></a:r><a:endParaRPr lang="en-US" sz="1200" dirty="0"/></a:p></p:txBody></p:sp><p:sp><p:nvSpPr><p:cNvPr id="7" name="Text 5"></p:cNvPr><p:cNvSpPr/><p:nvPr></p:nvPr></p:nvSpPr><p:spPr><a:xfrm><a:off x="4307732" y="3566160"/><a:ext cx="3332397" cy="528066"/></a:xfrm><a:prstGeom prst="rect"><a:avLst></a:avLst></a:prstGeom><a:noFill/><a:ln></a:ln></p:spPr><p:txBody><a:bodyPr wrap="square" lIns="0" tIns="0" rIns="0" bIns="0" rtlCol="0" anchor="ctr"><a:normAutofit/></a:bodyPr><a:lstStyle/><a:p><a:pPr indent="0" marL="0"><a:buNone/></a:pPr><a:r><a:rPr lang="en-US" sz="10000" b="1" dirty="0"><a:solidFill><a:srgbClr val="DC2626"/></a:solidFill></a:rPr><a:t>$50K</a:t></a:r><a:endParaRPr lang="en-US" sz="10000" dirty="0"/></a:p></p:txBody></p:sp><p:sp><p:nvSpPr><p:cNvPr id="8" name="Text 6"></p:cNvPr><p:cNvSpPr/><p:nvPr></p:nvPr></p:nvSpPr><p:spPr><a:xfrm><a:off x="4307732" y="4094226"/><a:ext cx="3332397" cy="240030"/></a:xfrm><a:prstGeom prst="rect"><a:avLst></a:avLst></a:prstGeom><a:noFill/><a:ln></a:ln></p:spPr><p:txBody><a:bodyPr wrap="square" rtlCol="0" anchor="ctr"></a:bodyPr><a:lstStyle/><a:p><a:pPr indent="0" marL="0"><a:buNone/></a:pPr><a:r><a:rPr lang="en-US" sz="1200" dirty="0"><a:solidFill><a:srgbClr val="6B7280"/></a:solidFill></a:rPr><a:t>MRR</a:t></a:r><a:endParaRPr lang="en-US" sz="1200" dirty="0"/></a:p></p:txBody></p:sp><p:sp><p:nvSpPr><p:cNvPr id="9" name="Text 7"></p:cNvPr><p:cNvSpPr/><p:nvPr></p:nvPr></p:nvSpPr><p:spPr><a:xfrm><a:off x="7883963" y="3566160"/><a:ext cx="3332397" cy="528066"/></a:xfrm><a:prstGeom prst="rect"><a:avLst></a:avLst></a:prstGeom><a:noFill/><a:ln></a:ln></p:spPr><p:txBody><a:bodyPr wrap="square" lIns="0" tIns="0" rIns="0" bIns="0" rtlCol="0" anchor="ctr"><a:normAutofit/></a:bodyPr><a:lstStyle/><a:p><a:pPr indent="0" marL="0"><a:buNone/></a:pPr><a:r><a:rPr lang="en-US" sz="10000" b="1" dirty="0"><a:solidFill><a:srgbClr val="DC2626"/></a:solidFill></a:rPr><a:t>72</a:t></a:r><a:endParaRPr lang="en-US" sz="10000" dirty="0"/></a:p></p:txBody></p:sp><p:sp><p:nvSpPr><p:cNvPr id="10" name="Text 8"></p:cNvPr><p:cNvSpPr/><p:nvPr></p:nvPr></p:nvSpPr><p:spPr><a:xfrm><a:off x="7883963" y="4094226"/><a:ext cx="3332397" cy="240030"/></a:xfrm><a:prstGeom prst="rect"><a:avLst></a:avLst></a:prstGeom><a:noFill/><a:ln></a:ln></p:spPr><p:txBody><a:bodyPr wrap="square" rtlCol="0" anchor="ctr"></a:bodyPr><a:lstStyle/><a:p><a:pPr indent="0" marL="0"><a:buNone/></a:pPr><a:r><a:rPr lang="en-US" sz="1200" dirty="0"><a:solidFill><a:srgbClr val="6B7280"/></a:solidFill></a:rPr><a:t>NPS Score</a:t></a:r><a:endParaRPr lang="en-US" sz="1200" dirty="0"/></a:p></p:txBody></p:sp><p:sp><p:nvSpPr><p:cNvPr id="11" name="Shape 9"></p:cNvPr><p:cNvSpPr/><p:nvPr></p:nvPr></p:nvSpPr><p:spPr><a:xfrm><a:off x="731502" y="4663440"/><a:ext cx="5295766" cy="1645920"/></a:xfrm><a:prstGeom prst="roundRect"><a:avLst><a:gd name="adj" fmla="val 3333"/></a:avLst></a:prstGeom><a:solidFill><a:srgbClr val="F8FAFC"/></a:solidFill><a:ln w="12700"><a:solidFill><a:srgbClr val="E2E8F0"/></a:solidFill><a:prstDash val="solid"/></a:ln></p:spPr></p:sp><p:sp><p:nvSpPr><p:cNvPr id="12" name="Text 10"></p:cNvPr><p:cNvSpPr/><p:nvPr></p:nvPr></p:nvSpPr><p:spPr><a:xfrm><a:off x="841230" y="4754880"/><a:ext cx="5076310" cy="274320"/></a:xfrm><a:prstGeom prst="rect"><a:avLst></a:avLst></a:prstGeom><a:noFill/><a:ln></a:ln></p:spPr><p:txBody><a:bodyPr wrap="square" rtlCol="0" anchor="ctr"></a:bodyPr><a:lstStyle/><a:p><a:pPr indent="0" marL="0"><a:buNone/></a:pPr><a:r><a:rPr lang="en-US" sz="1100" b="1" dirty="0"><a:solidFill><a:srgbClr val="16A34A"/></a:solidFill></a:rPr><a:t>Aug 2025</a:t></a:r><a:endParaRPr lang="en-US" sz="1100" dirty="0"/></a:p></p:txBody></p:sp><p:sp><p:nvSpPr><p:cNvPr id="13" name="Text 11"></p:cNvPr><p:cNvSpPr/><p:nvPr></p:nvPr></p:nvSpPr><p:spPr><a:xfrm><a:off x="841230" y="5047488"/><a:ext cx="5076310" cy="365760"/></a:xfrm><a:prstGeom prst="rect"><a:avLst></a:avLst></a:prstGeom><a:noFill/><a:ln></a:ln></p:spPr><p:txBody><a:bodyPr wrap="square" rtlCol="0" anchor="ctr"></a:bodyPr><a:lstStyle/><a:p><a:pPr indent="0" marL="0"><a:buNone/></a:pPr><a:r><a:rPr lang="en-US" sz="1300" b="1" dirty="0"><a:solidFill><a:srgbClr val="111827"/></a:solidFill></a:rPr><a:t>Item 1</a:t></a:r><a:endParaRPr lang="en-US" sz="1300" dirty="0"/></a:p></p:txBody></p:sp><p:sp><p:nvSpPr><p:cNvPr id="14" name="Shape 12"></p:cNvPr><p:cNvSpPr/><p:nvPr></p:nvPr></p:nvSpPr><p:spPr><a:xfrm><a:off x="6164428" y="4663440"/><a:ext cx="5295766" cy="1645920"/></a:xfrm><a:prstGeom prst="roundRect"><a:avLst><a:gd name="adj" fmla="val 3333"/></a:avLst></a:prstGeom><a:solidFill><a:srgbClr val="F8FAFC"/></a:solidFill><a:ln w="12700"><a:solidFill><a:srgbClr val="E2E8F0"/></a:solidFill><a:prstDash val="solid"/></a:ln></p:spPr></p:sp><p:sp><p:nvSpPr><p:cNvPr id="15" name="Text 13"></p:cNvPr><p:cNvSpPr/><p:nvPr></p:nvPr></p:nvSpPr><p:spPr><a:xfrm><a:off x="6274156" y="4754880"/><a:ext cx="5076310" cy="274320"/></a:xfrm><a:prstGeom prst="rect"><a:avLst></a:avLst></a:prstGeom><a:noFill/><a:ln></a:ln></p:spPr><p:txBody><a:bodyPr wrap="square" rtlCol="0" anchor="ctr"></a:bodyPr><a:lstStyle/><a:p><a:pPr indent="0" marL="0"><a:buNone/></a:pPr><a:r><a:rPr lang="en-US" sz="1100" b="1" dirty="0"><a:solidFill><a:srgbClr val="16A34A"/></a:solidFill></a:rPr><a:t>Nov 2025</a:t></a:r><a:endParaRPr lang="en-US" sz="1100" dirty="0"/></a:p></p:txBody></p:sp><p:sp><p:nvSpPr><p:cNvPr id="16" name="Text 14"></p:cNvPr><p:cNvSpPr/><p:nvPr></p:nvPr></p:nvSpPr><p:spPr><a:xfrm><a:off x="6274156" y="5047488"/><a:ext cx="5076310" cy="365760"/></a:xfrm><a:prstGeom prst="rect"><a:avLst></a:avLst></a:prstGeom><a:noFill/><a:ln></a:ln></p:spPr><p:txBody><a:bodyPr wrap="square" rtlCol="0" anchor="ctr"></a:bodyPr><a:lstStyle/><a:p><a:pPr indent="0" marL="0"><a:buNone/></a:pPr><a:r><a:rPr lang="en-US" sz="1300" b="1" dirty="0"><a:solidFill><a:srgbClr val="111827"/></a:solidFill></a:rPr><a:t>Item 2</a:t></a:r><a:endParaRPr lang="en-US" sz="1300" dirty="0"/></a:p></p:txBody></p:sp><p:sp><p:nvSpPr><p:cNvPr id="17" name="Text 15"></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8" name="Text 16"></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7.xml><?xml version="1.0" encoding="UTF-8" standalone="yes"?>
<p:sld xmlns:a="http://schemas.openxmlformats.org/drawingml/2006/main" xmlns:r="http://schemas.openxmlformats.org/officeDocument/2006/relationships" xmlns:p="http://schemas.openxmlformats.org/presentationml/2006/main"><p:cSld name="Slide 7"><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The Team</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Who we are</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Shadi — Founder &amp; Product Lead Full-stack product builder Experience building scalable consumer platforms Focused on mobility, digital ecosystems, and product-led growth Leading architecture, product strategy, and go-to-market execution</a:t></a:r><a:endParaRPr lang="en-US" sz="1400" dirty="0"/></a:p></p:txBody></p:sp><p:sp><p:nvSpPr><p:cNvPr id="5" name="Text 3"></p:cNvPr><p:cNvSpPr/><p:nvPr></p:nvPr></p:nvSpPr><p:spPr><a:xfrm><a:off x="731502" y="3566160"/><a:ext cx="10728692" cy="822960"/></a:xfrm><a:prstGeom prst="rect"><a:avLst></a:avLst></a:prstGeom><a:noFill/><a:ln></a:ln></p:spPr><p:txBody><a:bodyPr wrap="square" lIns="0" tIns="0" rIns="0" bIns="0" rtlCol="0" anchor="t"><a:normAutofit/></a:bodyPr><a:lstStyle/><a:p><a:pPr algn="l"></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Alumni from Shadi, Founder, Product</a:t></a:r><a:endParaRPr lang="en-US" sz="1400" dirty="0"/></a:p></p:txBody></p:sp><p:sp><p:nvSpPr><p:cNvPr id="6" name="Shape 4"></p:cNvPr><p:cNvSpPr/><p:nvPr></p:nvPr></p:nvSpPr><p:spPr><a:xfrm><a:off x="731502" y="4465320"/><a:ext cx="10728692" cy="1844040"/></a:xfrm><a:prstGeom prst="roundRect"><a:avLst><a:gd name="adj" fmla="val 2975"/></a:avLst></a:prstGeom><a:solidFill><a:srgbClr val="F8FAFC"/></a:solidFill><a:ln w="12700"><a:solidFill><a:srgbClr val="E2E8F0"/></a:solidFill><a:prstDash val="solid"/></a:ln></p:spPr></p:sp><p:sp><p:nvSpPr><p:cNvPr id="7" name="Text 5"></p:cNvPr><p:cNvSpPr/><p:nvPr></p:nvPr></p:nvSpPr><p:spPr><a:xfrm><a:off x="822942" y="4556760"/><a:ext cx="10545812" cy="365760"/></a:xfrm><a:prstGeom prst="rect"><a:avLst></a:avLst></a:prstGeom><a:noFill/><a:ln></a:ln></p:spPr><p:txBody><a:bodyPr wrap="square" rtlCol="0" anchor="ctr"></a:bodyPr><a:lstStyle/><a:p><a:pPr algn="ctr" indent="0" marL="0"><a:buNone/></a:pPr><a:r><a:rPr lang="en-US" sz="1300" b="1" dirty="0"><a:solidFill><a:srgbClr val="111827"/></a:solidFill></a:rPr><a:t>Team Member 1</a:t></a:r><a:endParaRPr lang="en-US" sz="1300" dirty="0"/></a:p></p:txBody></p:sp><p:sp><p:nvSpPr><p:cNvPr id="8" name="Text 6"></p:cNvPr><p:cNvSpPr/><p:nvPr></p:nvPr></p:nvSpPr><p:spPr><a:xfrm><a:off x="822942" y="4922520"/><a:ext cx="10545812" cy="274320"/></a:xfrm><a:prstGeom prst="rect"><a:avLst></a:avLst></a:prstGeom><a:noFill/><a:ln></a:ln></p:spPr><p:txBody><a:bodyPr wrap="square" rtlCol="0" anchor="ctr"></a:bodyPr><a:lstStyle/><a:p><a:pPr algn="ctr" indent="0" marL="0"><a:buNone/></a:pPr><a:r><a:rPr lang="en-US" sz="1100" dirty="0"><a:solidFill><a:srgbClr val="16A34A"/></a:solidFill></a:rPr><a:t>Founder</a:t></a:r><a:endParaRPr lang="en-US" sz="1100" dirty="0"/></a:p></p:txBody></p:sp><p:sp><p:nvSpPr><p:cNvPr id="9" name="Text 7"></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0" name="Text 8"></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8.xml><?xml version="1.0" encoding="UTF-8" standalone="yes"?>
<p:sld xmlns:a="http://schemas.openxmlformats.org/drawingml/2006/main" xmlns:r="http://schemas.openxmlformats.org/officeDocument/2006/relationships" xmlns:p="http://schemas.openxmlformats.org/presentationml/2006/main"><p:cSld name="Slide 8"><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The Ask</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Schedule an introductory meeting and explore a potential investment opportunity.</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Funding Ask: Initial Raise: €500K–€800K Seed Round Marketing Allocation: €100K–€150K focused on Copenhagen launch and early acquisition. Use of Funds: Product refinement Infrastructure and scalability Copenhagen marketing launch Strategic partnerships Operations and legal Growth and retention optimization</a:t></a:r><a:endParaRPr lang="en-US" sz="1400" dirty="0"/></a:p></p:txBody></p:sp><p:sp><p:nvSpPr><p:cNvPr id="5" name="Shape 3"></p:cNvPr><p:cNvSpPr/><p:nvPr></p:nvPr></p:nvSpPr><p:spPr><a:xfrm><a:off x="731502" y="3566160"/><a:ext cx="2579303" cy="1920240"/></a:xfrm><a:prstGeom prst="roundRect"><a:avLst><a:gd name="adj" fmla="val 2857"/></a:avLst></a:prstGeom><a:solidFill><a:srgbClr val="F8FAFC"/></a:solidFill><a:ln w="12700"><a:solidFill><a:srgbClr val="E2E8F0"/></a:solidFill><a:prstDash val="solid"/></a:ln></p:spPr></p:sp><p:sp><p:nvSpPr><p:cNvPr id="6" name="Text 4"></p:cNvPr><p:cNvSpPr/><p:nvPr></p:nvPr></p:nvSpPr><p:spPr><a:xfrm><a:off x="841230" y="3950208"/><a:ext cx="2359847" cy="365760"/></a:xfrm><a:prstGeom prst="rect"><a:avLst></a:avLst></a:prstGeom><a:noFill/><a:ln></a:ln></p:spPr><p:txBody><a:bodyPr wrap="square" rtlCol="0" anchor="ctr"></a:bodyPr><a:lstStyle/><a:p><a:pPr indent="0" marL="0"><a:buNone/></a:pPr><a:r><a:rPr lang="en-US" sz="1300" b="1" dirty="0"><a:solidFill><a:srgbClr val="111827"/></a:solidFill></a:rPr><a:t>Item 1</a:t></a:r><a:endParaRPr lang="en-US" sz="1300" dirty="0"/></a:p></p:txBody></p:sp><p:sp><p:nvSpPr><p:cNvPr id="7" name="Shape 5"></p:cNvPr><p:cNvSpPr/><p:nvPr></p:nvPr></p:nvSpPr><p:spPr><a:xfrm><a:off x="3447965" y="3566160"/><a:ext cx="2579303" cy="1920240"/></a:xfrm><a:prstGeom prst="roundRect"><a:avLst><a:gd name="adj" fmla="val 2857"/></a:avLst></a:prstGeom><a:solidFill><a:srgbClr val="F8FAFC"/></a:solidFill><a:ln w="12700"><a:solidFill><a:srgbClr val="E2E8F0"/></a:solidFill><a:prstDash val="solid"/></a:ln></p:spPr></p:sp><p:sp><p:nvSpPr><p:cNvPr id="8" name="Text 6"></p:cNvPr><p:cNvSpPr/><p:nvPr></p:nvPr></p:nvSpPr><p:spPr><a:xfrm><a:off x="3557693" y="3950208"/><a:ext cx="2359847" cy="365760"/></a:xfrm><a:prstGeom prst="rect"><a:avLst></a:avLst></a:prstGeom><a:noFill/><a:ln></a:ln></p:spPr><p:txBody><a:bodyPr wrap="square" rtlCol="0" anchor="ctr"></a:bodyPr><a:lstStyle/><a:p><a:pPr indent="0" marL="0"><a:buNone/></a:pPr><a:r><a:rPr lang="en-US" sz="1300" b="1" dirty="0"><a:solidFill><a:srgbClr val="111827"/></a:solidFill></a:rPr><a:t>Item 2</a:t></a:r><a:endParaRPr lang="en-US" sz="1300" dirty="0"/></a:p></p:txBody></p:sp><p:sp><p:nvSpPr><p:cNvPr id="9" name="Shape 7"></p:cNvPr><p:cNvSpPr/><p:nvPr></p:nvPr></p:nvSpPr><p:spPr><a:xfrm><a:off x="6164428" y="3566160"/><a:ext cx="2579303" cy="1920240"/></a:xfrm><a:prstGeom prst="roundRect"><a:avLst><a:gd name="adj" fmla="val 2857"/></a:avLst></a:prstGeom><a:solidFill><a:srgbClr val="F8FAFC"/></a:solidFill><a:ln w="12700"><a:solidFill><a:srgbClr val="E2E8F0"/></a:solidFill><a:prstDash val="solid"/></a:ln></p:spPr></p:sp><p:sp><p:nvSpPr><p:cNvPr id="10" name="Text 8"></p:cNvPr><p:cNvSpPr/><p:nvPr></p:nvPr></p:nvSpPr><p:spPr><a:xfrm><a:off x="6274156" y="3950208"/><a:ext cx="2359847" cy="365760"/></a:xfrm><a:prstGeom prst="rect"><a:avLst></a:avLst></a:prstGeom><a:noFill/><a:ln></a:ln></p:spPr><p:txBody><a:bodyPr wrap="square" rtlCol="0" anchor="ctr"></a:bodyPr><a:lstStyle/><a:p><a:pPr indent="0" marL="0"><a:buNone/></a:pPr><a:r><a:rPr lang="en-US" sz="1300" b="1" dirty="0"><a:solidFill><a:srgbClr val="111827"/></a:solidFill></a:rPr><a:t>Item 3</a:t></a:r><a:endParaRPr lang="en-US" sz="1300" dirty="0"/></a:p></p:txBody></p:sp><p:sp><p:nvSpPr><p:cNvPr id="11" name="Shape 9"></p:cNvPr><p:cNvSpPr/><p:nvPr></p:nvPr></p:nvSpPr><p:spPr><a:xfrm><a:off x="8880891" y="3566160"/><a:ext cx="2579303" cy="1920240"/></a:xfrm><a:prstGeom prst="roundRect"><a:avLst><a:gd name="adj" fmla="val 2857"/></a:avLst></a:prstGeom><a:solidFill><a:srgbClr val="F8FAFC"/></a:solidFill><a:ln w="12700"><a:solidFill><a:srgbClr val="E2E8F0"/></a:solidFill><a:prstDash val="solid"/></a:ln></p:spPr></p:sp><p:sp><p:nvSpPr><p:cNvPr id="12" name="Text 10"></p:cNvPr><p:cNvSpPr/><p:nvPr></p:nvPr></p:nvSpPr><p:spPr><a:xfrm><a:off x="8990619" y="3950208"/><a:ext cx="2359847" cy="365760"/></a:xfrm><a:prstGeom prst="rect"><a:avLst></a:avLst></a:prstGeom><a:noFill/><a:ln></a:ln></p:spPr><p:txBody><a:bodyPr wrap="square" rtlCol="0" anchor="ctr"></a:bodyPr><a:lstStyle/><a:p><a:pPr indent="0" marL="0"><a:buNone/></a:pPr><a:r><a:rPr lang="en-US" sz="1300" b="1" dirty="0"><a:solidFill><a:srgbClr val="111827"/></a:solidFill></a:rPr><a:t>Item 4</a:t></a:r><a:endParaRPr lang="en-US" sz="1300" dirty="0"/></a:p></p:txBody></p:sp><p:sp><p:nvSpPr><p:cNvPr id="13" name="Text 11"></p:cNvPr><p:cNvSpPr/><p:nvPr></p:nvPr></p:nvSpPr><p:spPr><a:xfrm><a:off x="731502" y="5623560"/><a:ext cx="10728692" cy="5486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CYKEL · https://cykel.app</a:t></a:r><a:endParaRPr lang="en-US" sz="1400" dirty="0"/></a:p></p:txBody></p:sp><p:sp><p:nvSpPr><p:cNvPr id="14" name="Text 12"></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5" name="Text 13"></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9.xml><?xml version="1.0" encoding="UTF-8" standalone="yes"?>
<p:sld xmlns:a="http://schemas.openxmlformats.org/drawingml/2006/main" xmlns:r="http://schemas.openxmlformats.org/officeDocument/2006/relationships" xmlns:p="http://schemas.openxmlformats.org/presentationml/2006/main"><p:cSld name="Slide 9"><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Executive Summary</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Key highlights</a:t></a:r><a:endParaRPr lang="en-US" sz="1600" dirty="0"/></a:p></p:txBody></p:sp><p:sp><p:nvSpPr><p:cNvPr id="4" name="Text 2"></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5" name="Text 3"></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10.xml><?xml version="1.0" encoding="UTF-8" standalone="yes"?>
<p:sld xmlns:a="http://schemas.openxmlformats.org/drawingml/2006/main" xmlns:r="http://schemas.openxmlformats.org/officeDocument/2006/relationships" xmlns:p="http://schemas.openxmlformats.org/presentationml/2006/main"><p:cSld name="Slide 10"><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Competitive Landscape</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How we compare</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Google Maps: Not optimized specifically for cyclists. Strava: Focused primarily on fitness and sports tracking. Facebook Marketplace: Unsafe and fragmented for bike buying and selling. Lime and bike-sharing platforms: Focused on rentals, not ownership or the broader cycling ecosystem. CYKEL combines navigation, tracking, safety, services, marketplace, family features, and community into one integrated platform.</a:t></a:r><a:endParaRPr lang="en-US" sz="1400" dirty="0"/></a:p></p:txBody></p:sp><p:sp><p:nvSpPr><p:cNvPr id="5" name="Text 3"></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6" name="Text 4"></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11.xml><?xml version="1.0" encoding="UTF-8" standalone="yes"?>
<p:sld xmlns:a="http://schemas.openxmlformats.org/drawingml/2006/main" xmlns:r="http://schemas.openxmlformats.org/officeDocument/2006/relationships" xmlns:p="http://schemas.openxmlformats.org/presentationml/2006/main"><p:cSld name="Slide 11"><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Product Roadmap</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Where we&apos;re going</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4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Roadmap &amp; Vision: 0–6 Months: Copenhagen launch Navigation and premium optimization Community and referral growth Marketplace liquidity expansion 6–12 Months: Family plan scaling Provider onboarding Service booking activation Advanced safety and gamification 12–24 Months: Denmark-wide expansion Nordic market preparation B2G cycling insights API and platform capabilities Long-Term Vision: Become the default digital platform for urban cycling across Europe.</a:t></a:r><a:endParaRPr lang="en-US" sz="1400" dirty="0"/></a:p></p:txBody></p:sp><p:sp><p:nvSpPr><p:cNvPr id="5" name="Shape 3"></p:cNvPr><p:cNvSpPr/><p:nvPr></p:nvPr></p:nvSpPr><p:spPr><a:xfrm><a:off x="731502" y="3566160"/><a:ext cx="3484791" cy="2194560"/></a:xfrm><a:prstGeom prst="roundRect"><a:avLst><a:gd name="adj" fmla="val 2500"/></a:avLst></a:prstGeom><a:solidFill><a:srgbClr val="F8FAFC"/></a:solidFill><a:ln w="12700"><a:solidFill><a:srgbClr val="E2E8F0"/></a:solidFill><a:prstDash val="solid"/></a:ln></p:spPr></p:sp><p:sp><p:nvSpPr><p:cNvPr id="6" name="Text 4"></p:cNvPr><p:cNvSpPr/><p:nvPr></p:nvPr></p:nvSpPr><p:spPr><a:xfrm><a:off x="841230" y="3950208"/><a:ext cx="3265335" cy="365760"/></a:xfrm><a:prstGeom prst="rect"><a:avLst></a:avLst></a:prstGeom><a:noFill/><a:ln></a:ln></p:spPr><p:txBody><a:bodyPr wrap="square" rtlCol="0" anchor="ctr"></a:bodyPr><a:lstStyle/><a:p><a:pPr indent="0" marL="0"><a:buNone/></a:pPr><a:r><a:rPr lang="en-US" sz="1300" b="1" dirty="0"><a:solidFill><a:srgbClr val="111827"/></a:solidFill></a:rPr><a:t>Phase 1</a:t></a:r><a:endParaRPr lang="en-US" sz="1300" dirty="0"/></a:p></p:txBody></p:sp><p:sp><p:nvSpPr><p:cNvPr id="7" name="Shape 5"></p:cNvPr><p:cNvSpPr/><p:nvPr></p:nvPr></p:nvSpPr><p:spPr><a:xfrm><a:off x="4353452" y="3566160"/><a:ext cx="3484791" cy="2194560"/></a:xfrm><a:prstGeom prst="roundRect"><a:avLst><a:gd name="adj" fmla="val 2500"/></a:avLst></a:prstGeom><a:solidFill><a:srgbClr val="F8FAFC"/></a:solidFill><a:ln w="12700"><a:solidFill><a:srgbClr val="E2E8F0"/></a:solidFill><a:prstDash val="solid"/></a:ln></p:spPr></p:sp><p:sp><p:nvSpPr><p:cNvPr id="8" name="Text 6"></p:cNvPr><p:cNvSpPr/><p:nvPr></p:nvPr></p:nvSpPr><p:spPr><a:xfrm><a:off x="4463180" y="3950208"/><a:ext cx="3265335" cy="365760"/></a:xfrm><a:prstGeom prst="rect"><a:avLst></a:avLst></a:prstGeom><a:noFill/><a:ln></a:ln></p:spPr><p:txBody><a:bodyPr wrap="square" rtlCol="0" anchor="ctr"></a:bodyPr><a:lstStyle/><a:p><a:pPr indent="0" marL="0"><a:buNone/></a:pPr><a:r><a:rPr lang="en-US" sz="1300" b="1" dirty="0"><a:solidFill><a:srgbClr val="111827"/></a:solidFill></a:rPr><a:t>Phase 2</a:t></a:r><a:endParaRPr lang="en-US" sz="1300" dirty="0"/></a:p></p:txBody></p:sp><p:sp><p:nvSpPr><p:cNvPr id="9" name="Shape 7"></p:cNvPr><p:cNvSpPr/><p:nvPr></p:nvPr></p:nvSpPr><p:spPr><a:xfrm><a:off x="7975403" y="3566160"/><a:ext cx="3484791" cy="2194560"/></a:xfrm><a:prstGeom prst="roundRect"><a:avLst><a:gd name="adj" fmla="val 2500"/></a:avLst></a:prstGeom><a:solidFill><a:srgbClr val="F8FAFC"/></a:solidFill><a:ln w="12700"><a:solidFill><a:srgbClr val="E2E8F0"/></a:solidFill><a:prstDash val="solid"/></a:ln></p:spPr></p:sp><p:sp><p:nvSpPr><p:cNvPr id="10" name="Text 8"></p:cNvPr><p:cNvSpPr/><p:nvPr></p:nvPr></p:nvSpPr><p:spPr><a:xfrm><a:off x="8085131" y="3950208"/><a:ext cx="3265335" cy="365760"/></a:xfrm><a:prstGeom prst="rect"><a:avLst></a:avLst></a:prstGeom><a:noFill/><a:ln></a:ln></p:spPr><p:txBody><a:bodyPr wrap="square" rtlCol="0" anchor="ctr"></a:bodyPr><a:lstStyle/><a:p><a:pPr indent="0" marL="0"><a:buNone/></a:pPr><a:r><a:rPr lang="en-US" sz="1300" b="1" dirty="0"><a:solidFill><a:srgbClr val="111827"/></a:solidFill></a:rPr><a:t>Phase 3</a:t></a:r><a:endParaRPr lang="en-US" sz="1300" dirty="0"/></a:p></p:txBody></p:sp><p:sp><p:nvSpPr><p:cNvPr id="11" name="Text 9"></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2" name="Text 10"></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slides/slide12.xml><?xml version="1.0" encoding="UTF-8" standalone="yes"?>
<p:sld xmlns:a="http://schemas.openxmlformats.org/drawingml/2006/main" xmlns:r="http://schemas.openxmlformats.org/officeDocument/2006/relationships" xmlns:p="http://schemas.openxmlformats.org/presentationml/2006/main"><p:cSld name="Slide 12"><p:bg><p:bgPr><a:solidFill><a:srgbClr val="FFFFFF"/></a:solidFill></p:bgPr></p:bg><p:spTree><p:nvGrpSpPr><p:cNvPr id="1" name=""/><p:cNvGrpSpPr/><p:nvPr/></p:nvGrpSpPr><p:grpSpPr><a:xfrm><a:off x="0" y="0"/><a:ext cx="0" cy="0"/><a:chOff x="0" y="0"/><a:chExt cx="0" cy="0"/></a:xfrm></p:grpSpPr><p:sp><p:nvSpPr><p:cNvPr id="2" name="Text 0"></p:cNvPr><p:cNvSpPr/><p:nvPr></p:nvPr></p:nvSpPr><p:spPr><a:xfrm><a:off x="731502" y="548640"/><a:ext cx="10728692" cy="960120"/></a:xfrm><a:prstGeom prst="rect"><a:avLst></a:avLst></a:prstGeom><a:noFill/><a:ln></a:ln></p:spPr><p:txBody><a:bodyPr wrap="square" lIns="0" tIns="0" rIns="0" bIns="0" rtlCol="0" anchor="t"><a:normAutofit/></a:bodyPr><a:lstStyle/><a:p><a:pPr algn="l" indent="0" marL="0"><a:lnSpc><a:spcPct val="112000"/></a:lnSpc><a:buNone/></a:pPr><a:r><a:rPr lang="en-US" sz="44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Pricing</a:t></a:r><a:endParaRPr lang="en-US" sz="4400" dirty="0"/></a:p></p:txBody></p:sp><p:sp><p:nvSpPr><p:cNvPr id="3" name="Text 1"></p:cNvPr><p:cNvSpPr/><p:nvPr></p:nvPr></p:nvSpPr><p:spPr><a:xfrm><a:off x="731502" y="1584960"/><a:ext cx="10728692" cy="548640"/></a:xfrm><a:prstGeom prst="rect"><a:avLst></a:avLst></a:prstGeom><a:noFill/><a:ln></a:ln></p:spPr><p:txBody><a:bodyPr wrap="square" lIns="0" tIns="0" rIns="0" bIns="0" rtlCol="0" anchor="t"><a:normAutofit/></a:bodyPr><a:lstStyle/><a:p><a:pPr algn="l" indent="0" marL="0"><a:lnSpc><a:spcPct val="135000"/></a:lnSpc><a:buNone/></a:pPr><a:r><a:rPr lang="en-US" sz="1600" b="1"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Simple, transparent pricing</a:t></a:r><a:endParaRPr lang="en-US" sz="1600" dirty="0"/></a:p></p:txBody></p:sp><p:sp><p:nvSpPr><p:cNvPr id="4" name="Text 2"></p:cNvPr><p:cNvSpPr/><p:nvPr></p:nvPr></p:nvSpPr><p:spPr><a:xfrm><a:off x="731502" y="2209800"/><a:ext cx="10728692" cy="1234440"/></a:xfrm><a:prstGeom prst="rect"><a:avLst></a:avLst></a:prstGeom><a:noFill/><a:ln></a:ln></p:spPr><p:txBody><a:bodyPr wrap="square" lIns="0" tIns="0" rIns="0" bIns="0" rtlCol="0" anchor="t"><a:normAutofit/></a:bodyPr><a:lstStyle/><a:p><a:pPr algn="l" indent="0" marL="0"><a:lnSpc><a:spcPct val="155000"/></a:lnSpc><a:buNone/></a:pPr><a:r><a:rPr lang="en-US" sz="1300" dirty="0"><a:solidFill><a:srgbClr val="171717"/></a:solidFill><a:latin typeface=""Inter", "Helvetica Neue", Helvetica, Arial, sans-serif" pitchFamily="34" charset="0"/><a:ea typeface=""Inter", "Helvetica Neue", Helvetica, Arial, sans-serif" pitchFamily="34" charset="-122"/><a:cs typeface=""Inter", "Helvetica Neue", Helvetica, Arial, sans-serif" pitchFamily="34" charset="-120"/></a:rPr><a:t>Free Plan — 0 DKK Basic bike tracking Limited route planning Community access Basic statistics Individual Plan (Most Popular) 49 DKK monthly 132 DKK quarterly 441 DKK yearly Features: Unlimited route planning Advanced analytics Offline maps Weather alerts Ad-free experience Priority support Family Plan 89 DKK monthly 240 DKK quarterly 801 DKK yearly Features: Up to 6 family members Family dashboard Shared routes Family ride planning Child safety features Live location tracking Premium Plan 149 DKK monthly 402 DKK quarterly 1,342 DKK yearly Features: AI cycling coach Premium routes Insurance discounts Unlimited buddy matching VIP support Early feature access Additional Details: 14-day free trial MobilePay, Apple Pay, Google Pay, PayPal support Auto-renewing subscriptions Marketplace and services remain free initially to maximize user adoption and liquidity</a:t></a:r><a:endParaRPr lang="en-US" sz="1300" dirty="0"/></a:p></p:txBody></p:sp><p:sp><p:nvSpPr><p:cNvPr id="5" name="Shape 3"></p:cNvPr><p:cNvSpPr/><p:nvPr></p:nvPr></p:nvSpPr><p:spPr><a:xfrm><a:off x="731502" y="3566160"/><a:ext cx="3454311" cy="2743200"/></a:xfrm><a:prstGeom prst="roundRect"><a:avLst><a:gd name="adj" fmla="val 3333"/></a:avLst></a:prstGeom><a:solidFill><a:srgbClr val="FFFFFF"/></a:solidFill><a:ln w="12700"><a:solidFill><a:srgbClr val="E2E8F0"/></a:solidFill><a:prstDash val="solid"/></a:ln></p:spPr></p:sp><p:sp><p:nvSpPr><p:cNvPr id="6" name="Text 4"></p:cNvPr><p:cNvSpPr/><p:nvPr></p:nvPr></p:nvSpPr><p:spPr><a:xfrm><a:off x="868662" y="3703320"/><a:ext cx="3179991" cy="365760"/></a:xfrm><a:prstGeom prst="rect"><a:avLst></a:avLst></a:prstGeom><a:noFill/><a:ln></a:ln></p:spPr><p:txBody><a:bodyPr wrap="square" rtlCol="0" anchor="ctr"></a:bodyPr><a:lstStyle/><a:p><a:pPr indent="0" marL="0"><a:buNone/></a:pPr><a:r><a:rPr lang="en-US" sz="1400" b="1" dirty="0"><a:solidFill><a:srgbClr val="111827"/></a:solidFill></a:rPr><a:t>Starter</a:t></a:r><a:endParaRPr lang="en-US" sz="1400" dirty="0"/></a:p></p:txBody></p:sp><p:sp><p:nvSpPr><p:cNvPr id="7" name="Text 5"></p:cNvPr><p:cNvSpPr/><p:nvPr></p:nvPr></p:nvSpPr><p:spPr><a:xfrm><a:off x="868662" y="4114800"/><a:ext cx="3179991" cy="548640"/></a:xfrm><a:prstGeom prst="rect"><a:avLst></a:avLst></a:prstGeom><a:noFill/><a:ln></a:ln></p:spPr><p:txBody><a:bodyPr wrap="square" rtlCol="0" anchor="ctr"></a:bodyPr><a:lstStyle/><a:p><a:pPr indent="0" marL="0"><a:buNone/></a:pPr><a:r><a:rPr lang="en-US" sz="2200" b="1" dirty="0"><a:solidFill><a:srgbClr val="16A34A"/></a:solidFill></a:rPr><a:t>$99/mo</a:t></a:r><a:endParaRPr lang="en-US" sz="2200" dirty="0"/></a:p></p:txBody></p:sp><p:sp><p:nvSpPr><p:cNvPr id="8" name="Text 6"></p:cNvPr><p:cNvSpPr/><p:nvPr></p:nvPr></p:nvSpPr><p:spPr><a:xfrm><a:off x="914382" y="4754880"/><a:ext cx="3088551" cy="1463040"/></a:xfrm><a:prstGeom prst="rect"><a:avLst></a:avLst></a:prstGeom><a:noFill/><a:ln></a:ln></p:spPr><p:txBody><a:bodyPr wrap="square" rtlCol="0" anchor="ctr"></a:bodyPr><a:lstStyle/><a:p><a:pPr marL="342900" indent="-342900"><a:buSzPct val="100000"/><a:buChar char="&#x2022;"/></a:pPr><a:r><a:rPr lang="en-US" sz="1100" dirty="0"><a:solidFill><a:srgbClr val="475569"/></a:solidFill></a:rPr><a:t>Basic features</a:t></a:r><a:endParaRPr lang="en-US" sz="1100" dirty="0"/></a:p><a:p><a:pPr marL="342900" indent="-342900"><a:buSzPct val="100000"/><a:buChar char="&#x2022;"/></a:pPr><a:r><a:rPr lang="en-US" sz="1100" dirty="0"><a:solidFill><a:srgbClr val="475569"/></a:solidFill></a:rPr><a:t>Email support</a:t></a:r><a:endParaRPr lang="en-US" sz="1100" dirty="0"/></a:p><a:p><a:pPr marL="342900" indent="-342900"><a:buSzPct val="100000"/><a:buChar char="&#x2022;"/></a:pPr><a:r><a:rPr lang="en-US" sz="1100" dirty="0"><a:solidFill><a:srgbClr val="475569"/></a:solidFill></a:rPr><a:t>10 users</a:t></a:r><a:endParaRPr lang="en-US" sz="1100" dirty="0"/></a:p></p:txBody></p:sp><p:sp><p:nvSpPr><p:cNvPr id="9" name="Shape 7"></p:cNvPr><p:cNvSpPr/><p:nvPr></p:nvPr></p:nvSpPr><p:spPr><a:xfrm><a:off x="4368692" y="3566160"/><a:ext cx="3454311" cy="2743200"/></a:xfrm><a:prstGeom prst="roundRect"><a:avLst><a:gd name="adj" fmla="val 3333"/></a:avLst></a:prstGeom><a:solidFill><a:srgbClr val="FFFFFF"/></a:solidFill><a:ln w="12700"><a:solidFill><a:srgbClr val="E2E8F0"/></a:solidFill><a:prstDash val="solid"/></a:ln></p:spPr></p:sp><p:sp><p:nvSpPr><p:cNvPr id="10" name="Text 8"></p:cNvPr><p:cNvSpPr/><p:nvPr></p:nvPr></p:nvSpPr><p:spPr><a:xfrm><a:off x="4505852" y="3703320"/><a:ext cx="3179991" cy="365760"/></a:xfrm><a:prstGeom prst="rect"><a:avLst></a:avLst></a:prstGeom><a:noFill/><a:ln></a:ln></p:spPr><p:txBody><a:bodyPr wrap="square" rtlCol="0" anchor="ctr"></a:bodyPr><a:lstStyle/><a:p><a:pPr indent="0" marL="0"><a:buNone/></a:pPr><a:r><a:rPr lang="en-US" sz="1400" b="1" dirty="0"><a:solidFill><a:srgbClr val="111827"/></a:solidFill></a:rPr><a:t>Professional</a:t></a:r><a:endParaRPr lang="en-US" sz="1400" dirty="0"/></a:p></p:txBody></p:sp><p:sp><p:nvSpPr><p:cNvPr id="11" name="Text 9"></p:cNvPr><p:cNvSpPr/><p:nvPr></p:nvPr></p:nvSpPr><p:spPr><a:xfrm><a:off x="4505852" y="4114800"/><a:ext cx="3179991" cy="548640"/></a:xfrm><a:prstGeom prst="rect"><a:avLst></a:avLst></a:prstGeom><a:noFill/><a:ln></a:ln></p:spPr><p:txBody><a:bodyPr wrap="square" rtlCol="0" anchor="ctr"></a:bodyPr><a:lstStyle/><a:p><a:pPr indent="0" marL="0"><a:buNone/></a:pPr><a:r><a:rPr lang="en-US" sz="2200" b="1" dirty="0"><a:solidFill><a:srgbClr val="16A34A"/></a:solidFill></a:rPr><a:t>$299/mo</a:t></a:r><a:endParaRPr lang="en-US" sz="2200" dirty="0"/></a:p></p:txBody></p:sp><p:sp><p:nvSpPr><p:cNvPr id="12" name="Text 10"></p:cNvPr><p:cNvSpPr/><p:nvPr></p:nvPr></p:nvSpPr><p:spPr><a:xfrm><a:off x="4551572" y="4754880"/><a:ext cx="3088551" cy="1463040"/></a:xfrm><a:prstGeom prst="rect"><a:avLst></a:avLst></a:prstGeom><a:noFill/><a:ln></a:ln></p:spPr><p:txBody><a:bodyPr wrap="square" rtlCol="0" anchor="ctr"></a:bodyPr><a:lstStyle/><a:p><a:pPr marL="342900" indent="-342900"><a:buSzPct val="100000"/><a:buChar char="&#x2022;"/></a:pPr><a:r><a:rPr lang="en-US" sz="1100" dirty="0"><a:solidFill><a:srgbClr val="475569"/></a:solidFill></a:rPr><a:t>Advanced features</a:t></a:r><a:endParaRPr lang="en-US" sz="1100" dirty="0"/></a:p><a:p><a:pPr marL="342900" indent="-342900"><a:buSzPct val="100000"/><a:buChar char="&#x2022;"/></a:pPr><a:r><a:rPr lang="en-US" sz="1100" dirty="0"><a:solidFill><a:srgbClr val="475569"/></a:solidFill></a:rPr><a:t>Priority support</a:t></a:r><a:endParaRPr lang="en-US" sz="1100" dirty="0"/></a:p><a:p><a:pPr marL="342900" indent="-342900"><a:buSzPct val="100000"/><a:buChar char="&#x2022;"/></a:pPr><a:r><a:rPr lang="en-US" sz="1100" dirty="0"><a:solidFill><a:srgbClr val="475569"/></a:solidFill></a:rPr><a:t>50 users</a:t></a:r><a:endParaRPr lang="en-US" sz="1100" dirty="0"/></a:p></p:txBody></p:sp><p:sp><p:nvSpPr><p:cNvPr id="13" name="Shape 11"></p:cNvPr><p:cNvSpPr/><p:nvPr></p:nvPr></p:nvSpPr><p:spPr><a:xfrm><a:off x="8005883" y="3566160"/><a:ext cx="3454311" cy="2743200"/></a:xfrm><a:prstGeom prst="roundRect"><a:avLst><a:gd name="adj" fmla="val 3333"/></a:avLst></a:prstGeom><a:solidFill><a:srgbClr val="FFFFFF"/></a:solidFill><a:ln w="12700"><a:solidFill><a:srgbClr val="E2E8F0"/></a:solidFill><a:prstDash val="solid"/></a:ln></p:spPr></p:sp><p:sp><p:nvSpPr><p:cNvPr id="14" name="Text 12"></p:cNvPr><p:cNvSpPr/><p:nvPr></p:nvPr></p:nvSpPr><p:spPr><a:xfrm><a:off x="8143043" y="3703320"/><a:ext cx="3179991" cy="365760"/></a:xfrm><a:prstGeom prst="rect"><a:avLst></a:avLst></a:prstGeom><a:noFill/><a:ln></a:ln></p:spPr><p:txBody><a:bodyPr wrap="square" rtlCol="0" anchor="ctr"></a:bodyPr><a:lstStyle/><a:p><a:pPr indent="0" marL="0"><a:buNone/></a:pPr><a:r><a:rPr lang="en-US" sz="1400" b="1" dirty="0"><a:solidFill><a:srgbClr val="111827"/></a:solidFill></a:rPr><a:t>Enterprise</a:t></a:r><a:endParaRPr lang="en-US" sz="1400" dirty="0"/></a:p></p:txBody></p:sp><p:sp><p:nvSpPr><p:cNvPr id="15" name="Text 13"></p:cNvPr><p:cNvSpPr/><p:nvPr></p:nvPr></p:nvSpPr><p:spPr><a:xfrm><a:off x="8143043" y="4114800"/><a:ext cx="3179991" cy="548640"/></a:xfrm><a:prstGeom prst="rect"><a:avLst></a:avLst></a:prstGeom><a:noFill/><a:ln></a:ln></p:spPr><p:txBody><a:bodyPr wrap="square" rtlCol="0" anchor="ctr"></a:bodyPr><a:lstStyle/><a:p><a:pPr indent="0" marL="0"><a:buNone/></a:pPr><a:r><a:rPr lang="en-US" sz="2200" b="1" dirty="0"><a:solidFill><a:srgbClr val="16A34A"/></a:solidFill></a:rPr><a:t>Custom</a:t></a:r><a:endParaRPr lang="en-US" sz="2200" dirty="0"/></a:p></p:txBody></p:sp><p:sp><p:nvSpPr><p:cNvPr id="16" name="Text 14"></p:cNvPr><p:cNvSpPr/><p:nvPr></p:nvPr></p:nvSpPr><p:spPr><a:xfrm><a:off x="8188763" y="4754880"/><a:ext cx="3088551" cy="1463040"/></a:xfrm><a:prstGeom prst="rect"><a:avLst></a:avLst></a:prstGeom><a:noFill/><a:ln></a:ln></p:spPr><p:txBody><a:bodyPr wrap="square" rtlCol="0" anchor="ctr"></a:bodyPr><a:lstStyle/><a:p><a:pPr marL="342900" indent="-342900"><a:buSzPct val="100000"/><a:buChar char="&#x2022;"/></a:pPr><a:r><a:rPr lang="en-US" sz="1100" dirty="0"><a:solidFill><a:srgbClr val="475569"/></a:solidFill></a:rPr><a:t>All features</a:t></a:r><a:endParaRPr lang="en-US" sz="1100" dirty="0"/></a:p><a:p><a:pPr marL="342900" indent="-342900"><a:buSzPct val="100000"/><a:buChar char="&#x2022;"/></a:pPr><a:r><a:rPr lang="en-US" sz="1100" dirty="0"><a:solidFill><a:srgbClr val="475569"/></a:solidFill></a:rPr><a:t>24/7 support</a:t></a:r><a:endParaRPr lang="en-US" sz="1100" dirty="0"/></a:p><a:p><a:pPr marL="342900" indent="-342900"><a:buSzPct val="100000"/><a:buChar char="&#x2022;"/></a:pPr><a:r><a:rPr lang="en-US" sz="1100" dirty="0"><a:solidFill><a:srgbClr val="475569"/></a:solidFill></a:rPr><a:t>Unlimited users</a:t></a:r><a:endParaRPr lang="en-US" sz="1100" dirty="0"/></a:p></p:txBody></p:sp><p:sp><p:nvSpPr><p:cNvPr id="17" name="Text 15"></p:cNvPr><p:cNvSpPr/><p:nvPr></p:nvPr></p:nvSpPr><p:spPr><a:xfrm><a:off x="731502" y="6446520"/><a:ext cx="8534187" cy="274320"/></a:xfrm><a:prstGeom prst="rect"><a:avLst></a:avLst></a:prstGeom><a:noFill/><a:ln></a:ln></p:spPr><p:txBody><a:bodyPr wrap="square" lIns="0" tIns="0" rIns="0" bIns="0" rtlCol="0" anchor="t"><a:normAutofit/></a:bodyPr><a:lstStyle/><a:p><a:pPr algn="l" indent="0" marL="0"><a:lnSpc><a:spcPct val="135000"/></a:lnSpc><a:buNone/></a:pPr><a:endParaRPr lang="en-US" sz="1000" dirty="0"/></a:p></p:txBody></p:sp><p:sp><p:nvSpPr><p:cNvPr id="18" name="Text 16"></p:cNvPr><p:cNvSpPr/><p:nvPr></p:nvPr></p:nvSpPr><p:spPr><a:xfrm><a:off x="10728692" y="6446520"/><a:ext cx="975336" cy="274320"/></a:xfrm><a:prstGeom prst="rect"><a:avLst></a:avLst></a:prstGeom><a:noFill/><a:ln></a:ln></p:spPr><p:txBody><a:bodyPr wrap="square" lIns="0" tIns="0" rIns="0" bIns="0" rtlCol="0" anchor="t"><a:normAutofit/></a:bodyPr><a:lstStyle/><a:p><a:pPr algn="r" indent="0" marL="0"><a:buNone/></a:pPr><a:endParaRPr lang="en-US" sz="1000" dirty="0"/></a:p></p:txBody></p:sp></p:spTree></p:cSld><p:clrMapOvr><a:masterClrMapping/></p:clrMapOvr></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CYKEL Pitch Deck</dc:title>
  <dc:subject>PptxGenJS Presentation</dc:subject>
  <dc:creator>Pitchonix</dc:creator>
  <cp:lastModifiedBy>Pitchonix</cp:lastModifiedBy>
  <cp:revision>1</cp:revision>
  <dcterms:created xsi:type="dcterms:W3CDTF">2026-05-20T11:53:54Z</dcterms:created>
  <dcterms:modified xsi:type="dcterms:W3CDTF">2026-05-20T11:53:54Z</dcterms:modified>
</cp:coreProperties>
</file>