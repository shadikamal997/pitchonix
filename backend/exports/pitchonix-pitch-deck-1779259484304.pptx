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Pitchonix</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Pitchonix is a modern business publishing platform for creating professional presentations, reports, proposals, and branded business documents with advanced visual layouts, templates, and multi-format export tools.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Problem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What challenge are we addressing?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Businesses and teams struggle to create professional presentations and business documents quickly and consistently. Existing tools are either too limited, too design-focused, or not built for structured business publishing workflows, leading to inefficient collaboration, inconsistent branding, time-consuming editing, and low-quality outputs.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Our Solution</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Title: Pitchonix Subtitle: The Operating System for Business Documents Tagline: From idea to investor-ready content in minutes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provides a unified business publishing platform that combines professional document creation, advanced visual layouts, structured workflows, reusable templates, brand management, collaboration tools, and multi-format export capabilities into one seamless workspace, enabling teams to create polished, consistent, and presentation-ready business content faster and more efficiently.</a:t>
            </a:r>
            <a:endParaRPr lang="en-US" sz="1400" dirty="0"/>
          </a:p>
        </p:txBody>
      </p:sp>
      <p:sp>
        <p:nvSpPr>
          <p:cNvPr id="5" name="Text 3"/>
          <p:cNvSpPr/>
          <p:nvPr/>
        </p:nvSpPr>
        <p:spPr>
          <a:xfrm>
            <a:off x="731502" y="3566160"/>
            <a:ext cx="10728692" cy="2880360"/>
          </a:xfrm>
          <a:prstGeom prst="rect">
            <a:avLst/>
          </a:prstGeom>
          <a:noFill/>
          <a:ln/>
        </p:spPr>
        <p:txBody>
          <a:bodyPr wrap="square" rtlCol="0" anchor="t"/>
          <a:lstStyle/>
          <a:p>
            <a:pPr algn="l"/>
            <a:r>
              <a:rPr lang="en-US" sz="1400" dirty="0">
                <a:solidFill>
                  <a:srgbClr val="111827"/>
                </a:solidFill>
              </a:rPr>
              <a:t>Pitchonix provides a unified business publishing platform that combines professional document creation</a:t>
            </a:r>
            <a:pPr algn="l"/>
            <a:r>
              <a:rPr lang="en-US" sz="1400" dirty="0">
                <a:solidFill>
                  <a:srgbClr val="111827"/>
                </a:solidFill>
              </a:rPr>
              <a:t>advanced visual layouts</a:t>
            </a:r>
            <a:pPr algn="l"/>
            <a:r>
              <a:rPr lang="en-US" sz="1400" dirty="0">
                <a:solidFill>
                  <a:srgbClr val="111827"/>
                </a:solidFill>
              </a:rPr>
              <a:t>structured workflows</a:t>
            </a:r>
            <a:pPr algn="l"/>
            <a:r>
              <a:rPr lang="en-US" sz="1400" dirty="0">
                <a:solidFill>
                  <a:srgbClr val="111827"/>
                </a:solidFill>
              </a:rPr>
              <a:t>reusable templates</a:t>
            </a:r>
            <a:pPr algn="l"/>
            <a:r>
              <a:rPr lang="en-US" sz="1400" dirty="0">
                <a:solidFill>
                  <a:srgbClr val="111827"/>
                </a:solidFill>
              </a:rPr>
              <a:t>brand management</a:t>
            </a:r>
            <a:pPr algn="l"/>
            <a:r>
              <a:rPr lang="en-US" sz="1400" dirty="0">
                <a:solidFill>
                  <a:srgbClr val="111827"/>
                </a:solidFill>
              </a:rPr>
              <a:t>collaboration tools</a:t>
            </a:r>
            <a:endParaRPr lang="en-US" sz="1400" dirty="0"/>
          </a:p>
        </p:txBody>
      </p:sp>
      <p:sp>
        <p:nvSpPr>
          <p:cNvPr id="6" name="Text 4"/>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7" name="Text 5"/>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Market Opportunity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TAM • SAM • SOM</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TAM: $45B global market across business productivity, presentation software, document publishing, and collaborative work platforms.</a:t>
            </a:r>
            <a:endParaRPr lang="en-US" sz="1400" dirty="0"/>
          </a:p>
          <a:p>
            <a:pPr algn="l" indent="0" marL="0">
              <a:buNone/>
            </a:pPr>
            <a:endParaRPr lang="en-US" sz="1400" dirty="0"/>
          </a:p>
          <a:p>
            <a:pPr algn="l" indent="0" marL="0">
              <a:buNone/>
            </a:pPr>
            <a:r>
              <a:rPr lang="en-US" sz="1400" dirty="0">
                <a:solidFill>
                  <a:srgbClr val="111827"/>
                </a:solidFill>
              </a:rPr>
              <a:t>SAM: $12B serviceable market focused on startups, agencies, SMEs, consultants, and enterprise teams using modern business publishing and presentation tools.</a:t>
            </a:r>
            <a:endParaRPr lang="en-US" sz="1400" dirty="0"/>
          </a:p>
          <a:p>
            <a:pPr algn="l" indent="0" marL="0">
              <a:buNone/>
            </a:pPr>
            <a:endParaRPr lang="en-US" sz="1400" dirty="0"/>
          </a:p>
          <a:p>
            <a:pPr algn="l" indent="0" marL="0">
              <a:buNone/>
            </a:pPr>
            <a:r>
              <a:rPr lang="en-US" sz="1400" dirty="0">
                <a:solidFill>
                  <a:srgbClr val="111827"/>
                </a:solidFill>
              </a:rPr>
              <a:t>SOM: $250M initial obtainable market targeting digital-first businesses, creative teams, and growing organizations adopting modern publishing workflows.</a:t>
            </a:r>
            <a:endParaRPr lang="en-US" sz="1400" dirty="0"/>
          </a:p>
          <a:p>
            <a:pPr algn="l" indent="0" marL="0">
              <a:buNone/>
            </a:pPr>
            <a:endParaRPr lang="en-US" sz="1400" dirty="0"/>
          </a:p>
          <a:p>
            <a:pPr algn="l" indent="0" marL="0">
              <a:buNone/>
            </a:pPr>
            <a:r>
              <a:rPr lang="en-US" sz="1400" dirty="0">
                <a:solidFill>
                  <a:srgbClr val="111827"/>
                </a:solidFill>
              </a:rPr>
              <a:t>Market growth is driven by increasing demand for collaborative business communication, branded content creation, remote work tools, and visual publishing platforms, with the industry growing at an estimated 12–15% annually.</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Business Model</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make money</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operates on a subscription-based SaaS model with tiered pricing for individuals, teams, and enterprises. Revenue streams include premium subscriptions, Pro Templates, advanced export features, team collaboration plans, enterprise workspace solutions, brand management tools, and future marketplace or white-label offerings.</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Traction &amp; Metrics</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Our progress so far</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Rapidly evolving publishing platform with active product development and expanding feature ecosystem</a:t>
            </a:r>
            <a:endParaRPr lang="en-US" sz="1400" dirty="0"/>
          </a:p>
          <a:p>
            <a:pPr algn="l" indent="0" marL="0">
              <a:buNone/>
            </a:pPr>
            <a:r>
              <a:rPr lang="en-US" sz="1400" dirty="0">
                <a:solidFill>
                  <a:srgbClr val="111827"/>
                </a:solidFill>
              </a:rPr>
              <a:t>Core systems completed for PDF Studio, Pro Templates, Brand Kits, exports, and publishing workflows</a:t>
            </a:r>
            <a:endParaRPr lang="en-US" sz="1400" dirty="0"/>
          </a:p>
          <a:p>
            <a:pPr algn="l" indent="0" marL="0">
              <a:buNone/>
            </a:pPr>
            <a:r>
              <a:rPr lang="en-US" sz="1400" dirty="0">
                <a:solidFill>
                  <a:srgbClr val="111827"/>
                </a:solidFill>
              </a:rPr>
              <a:t>Strong progress toward a scalable block-based publishing architecture and enterprise-ready platform foundation</a:t>
            </a:r>
            <a:endParaRPr lang="en-US" sz="1400" dirty="0"/>
          </a:p>
          <a:p>
            <a:pPr algn="l" indent="0" marL="0">
              <a:buNone/>
            </a:pPr>
            <a:r>
              <a:rPr lang="en-US" sz="1400" dirty="0">
                <a:solidFill>
                  <a:srgbClr val="111827"/>
                </a:solidFill>
              </a:rPr>
              <a:t>Early validation through continuous product testing, workflow optimization, and multi-format publishing capabilities</a:t>
            </a:r>
            <a:endParaRPr lang="en-US" sz="1400" dirty="0"/>
          </a:p>
          <a:p>
            <a:pPr algn="l" indent="0" marL="0">
              <a:buNone/>
            </a:pPr>
            <a:r>
              <a:rPr lang="en-US" sz="1400" dirty="0">
                <a:solidFill>
                  <a:srgbClr val="111827"/>
                </a:solidFill>
              </a:rPr>
              <a:t>Positioned for beta expansion targeting startups, agencies, consultants, and modern business teams</a:t>
            </a:r>
            <a:endParaRPr lang="en-US" sz="1400" dirty="0"/>
          </a:p>
          <a:p>
            <a:pPr algn="l" indent="0" marL="0">
              <a:buNone/>
            </a:pPr>
            <a:r>
              <a:rPr lang="en-US" sz="1400" dirty="0">
                <a:solidFill>
                  <a:srgbClr val="111827"/>
                </a:solidFill>
              </a:rPr>
              <a:t>Key milestones include advanced template systems, export infrastructure, dashboard ecosystem redesign, and next-generation publishing engine development</a:t>
            </a:r>
            <a:endParaRPr lang="en-US" sz="1400" dirty="0"/>
          </a:p>
        </p:txBody>
      </p:sp>
      <p:sp>
        <p:nvSpPr>
          <p:cNvPr id="5" name="Text 3"/>
          <p:cNvSpPr/>
          <p:nvPr/>
        </p:nvSpPr>
        <p:spPr>
          <a:xfrm>
            <a:off x="731502" y="3566160"/>
            <a:ext cx="3332397" cy="528066"/>
          </a:xfrm>
          <a:prstGeom prst="rect">
            <a:avLst/>
          </a:prstGeom>
          <a:noFill/>
          <a:ln/>
        </p:spPr>
        <p:txBody>
          <a:bodyPr wrap="square" rtlCol="0" anchor="ctr"/>
          <a:lstStyle/>
          <a:p>
            <a:pPr indent="0" marL="0">
              <a:buNone/>
            </a:pPr>
            <a:r>
              <a:rPr lang="en-US" sz="3600" b="1" dirty="0">
                <a:solidFill>
                  <a:srgbClr val="16A34A"/>
                </a:solidFill>
              </a:rPr>
              <a:t>1,000+</a:t>
            </a:r>
            <a:endParaRPr lang="en-US" sz="3600" dirty="0"/>
          </a:p>
        </p:txBody>
      </p:sp>
      <p:sp>
        <p:nvSpPr>
          <p:cNvPr id="6" name="Text 4"/>
          <p:cNvSpPr/>
          <p:nvPr/>
        </p:nvSpPr>
        <p:spPr>
          <a:xfrm>
            <a:off x="731502" y="4094226"/>
            <a:ext cx="3332397" cy="240030"/>
          </a:xfrm>
          <a:prstGeom prst="rect">
            <a:avLst/>
          </a:prstGeom>
          <a:noFill/>
          <a:ln/>
        </p:spPr>
        <p:txBody>
          <a:bodyPr wrap="square" rtlCol="0" anchor="ctr"/>
          <a:lstStyle/>
          <a:p>
            <a:pPr indent="0" marL="0">
              <a:buNone/>
            </a:pPr>
            <a:r>
              <a:rPr lang="en-US" sz="1200" dirty="0">
                <a:solidFill>
                  <a:srgbClr val="6B7280"/>
                </a:solidFill>
              </a:rPr>
              <a:t>Active Users</a:t>
            </a:r>
            <a:endParaRPr lang="en-US" sz="1200" dirty="0"/>
          </a:p>
        </p:txBody>
      </p:sp>
      <p:sp>
        <p:nvSpPr>
          <p:cNvPr id="7" name="Text 5"/>
          <p:cNvSpPr/>
          <p:nvPr/>
        </p:nvSpPr>
        <p:spPr>
          <a:xfrm>
            <a:off x="4307732" y="3566160"/>
            <a:ext cx="3332397" cy="528066"/>
          </a:xfrm>
          <a:prstGeom prst="rect">
            <a:avLst/>
          </a:prstGeom>
          <a:noFill/>
          <a:ln/>
        </p:spPr>
        <p:txBody>
          <a:bodyPr wrap="square" rtlCol="0" anchor="ctr"/>
          <a:lstStyle/>
          <a:p>
            <a:pPr indent="0" marL="0">
              <a:buNone/>
            </a:pPr>
            <a:r>
              <a:rPr lang="en-US" sz="3600" b="1" dirty="0">
                <a:solidFill>
                  <a:srgbClr val="16A34A"/>
                </a:solidFill>
              </a:rPr>
              <a:t>$50K</a:t>
            </a:r>
            <a:endParaRPr lang="en-US" sz="3600" dirty="0"/>
          </a:p>
        </p:txBody>
      </p:sp>
      <p:sp>
        <p:nvSpPr>
          <p:cNvPr id="8" name="Text 6"/>
          <p:cNvSpPr/>
          <p:nvPr/>
        </p:nvSpPr>
        <p:spPr>
          <a:xfrm>
            <a:off x="4307732" y="4094226"/>
            <a:ext cx="3332397" cy="240030"/>
          </a:xfrm>
          <a:prstGeom prst="rect">
            <a:avLst/>
          </a:prstGeom>
          <a:noFill/>
          <a:ln/>
        </p:spPr>
        <p:txBody>
          <a:bodyPr wrap="square" rtlCol="0" anchor="ctr"/>
          <a:lstStyle/>
          <a:p>
            <a:pPr indent="0" marL="0">
              <a:buNone/>
            </a:pPr>
            <a:r>
              <a:rPr lang="en-US" sz="1200" dirty="0">
                <a:solidFill>
                  <a:srgbClr val="6B7280"/>
                </a:solidFill>
              </a:rPr>
              <a:t>MRR</a:t>
            </a:r>
            <a:endParaRPr lang="en-US" sz="1200" dirty="0"/>
          </a:p>
        </p:txBody>
      </p:sp>
      <p:sp>
        <p:nvSpPr>
          <p:cNvPr id="9" name="Text 7"/>
          <p:cNvSpPr/>
          <p:nvPr/>
        </p:nvSpPr>
        <p:spPr>
          <a:xfrm>
            <a:off x="7883963" y="3566160"/>
            <a:ext cx="3332397" cy="528066"/>
          </a:xfrm>
          <a:prstGeom prst="rect">
            <a:avLst/>
          </a:prstGeom>
          <a:noFill/>
          <a:ln/>
        </p:spPr>
        <p:txBody>
          <a:bodyPr wrap="square" rtlCol="0" anchor="ctr"/>
          <a:lstStyle/>
          <a:p>
            <a:pPr indent="0" marL="0">
              <a:buNone/>
            </a:pPr>
            <a:r>
              <a:rPr lang="en-US" sz="3600" b="1" dirty="0">
                <a:solidFill>
                  <a:srgbClr val="16A34A"/>
                </a:solidFill>
              </a:rPr>
              <a:t>72</a:t>
            </a:r>
            <a:endParaRPr lang="en-US" sz="3600" dirty="0"/>
          </a:p>
        </p:txBody>
      </p:sp>
      <p:sp>
        <p:nvSpPr>
          <p:cNvPr id="10" name="Text 8"/>
          <p:cNvSpPr/>
          <p:nvPr/>
        </p:nvSpPr>
        <p:spPr>
          <a:xfrm>
            <a:off x="7883963" y="4094226"/>
            <a:ext cx="3332397" cy="240030"/>
          </a:xfrm>
          <a:prstGeom prst="rect">
            <a:avLst/>
          </a:prstGeom>
          <a:noFill/>
          <a:ln/>
        </p:spPr>
        <p:txBody>
          <a:bodyPr wrap="square" rtlCol="0" anchor="ctr"/>
          <a:lstStyle/>
          <a:p>
            <a:pPr indent="0" marL="0">
              <a:buNone/>
            </a:pPr>
            <a:r>
              <a:rPr lang="en-US" sz="1200" dirty="0">
                <a:solidFill>
                  <a:srgbClr val="6B7280"/>
                </a:solidFill>
              </a:rPr>
              <a:t>NPS Score</a:t>
            </a:r>
            <a:endParaRPr lang="en-US" sz="1200" dirty="0"/>
          </a:p>
        </p:txBody>
      </p:sp>
      <p:sp>
        <p:nvSpPr>
          <p:cNvPr id="11" name="Shape 9"/>
          <p:cNvSpPr/>
          <p:nvPr/>
        </p:nvSpPr>
        <p:spPr>
          <a:xfrm>
            <a:off x="731502" y="4663440"/>
            <a:ext cx="10728692"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41230" y="4754880"/>
            <a:ext cx="10509236" cy="274320"/>
          </a:xfrm>
          <a:prstGeom prst="rect">
            <a:avLst/>
          </a:prstGeom>
          <a:noFill/>
          <a:ln/>
        </p:spPr>
        <p:txBody>
          <a:bodyPr wrap="square" rtlCol="0" anchor="ctr"/>
          <a:lstStyle/>
          <a:p>
            <a:pPr indent="0" marL="0">
              <a:buNone/>
            </a:pPr>
            <a:r>
              <a:rPr lang="en-US" sz="1100" b="1" dirty="0">
                <a:solidFill>
                  <a:srgbClr val="16A34A"/>
                </a:solidFill>
              </a:rPr>
              <a:t>Aug 2025</a:t>
            </a:r>
            <a:endParaRPr lang="en-US" sz="1100" dirty="0"/>
          </a:p>
        </p:txBody>
      </p:sp>
      <p:sp>
        <p:nvSpPr>
          <p:cNvPr id="13" name="Text 11"/>
          <p:cNvSpPr/>
          <p:nvPr/>
        </p:nvSpPr>
        <p:spPr>
          <a:xfrm>
            <a:off x="841230" y="5047488"/>
            <a:ext cx="10509236"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Team</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Who we 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Founder &amp; Product Lead — Full-stack product developer focused on publishing systems, SaaS platforms, visual document workflows, and scalable business tools</a:t>
            </a:r>
            <a:endParaRPr lang="en-US" sz="1400" dirty="0"/>
          </a:p>
          <a:p>
            <a:pPr algn="l" indent="0" marL="0">
              <a:buNone/>
            </a:pPr>
            <a:r>
              <a:rPr lang="en-US" sz="1400" dirty="0">
                <a:solidFill>
                  <a:srgbClr val="111827"/>
                </a:solidFill>
              </a:rPr>
              <a:t>Engineering &amp; Platform Development — Expertise in frontend architecture, backend systems, rendering pipelines, export infrastructure, and modern web technologies</a:t>
            </a:r>
            <a:endParaRPr lang="en-US" sz="1400" dirty="0"/>
          </a:p>
          <a:p>
            <a:pPr algn="l" indent="0" marL="0">
              <a:buNone/>
            </a:pPr>
            <a:r>
              <a:rPr lang="en-US" sz="1400" dirty="0">
                <a:solidFill>
                  <a:srgbClr val="111827"/>
                </a:solidFill>
              </a:rPr>
              <a:t>Design &amp; UX Direction — Focused on premium fintech-inspired interfaces, editorial layouts, publishing experiences, and modern SaaS usability</a:t>
            </a:r>
            <a:endParaRPr lang="en-US" sz="1400" dirty="0"/>
          </a:p>
          <a:p>
            <a:pPr algn="l" indent="0" marL="0">
              <a:buNone/>
            </a:pPr>
            <a:r>
              <a:rPr lang="en-US" sz="1400" dirty="0">
                <a:solidFill>
                  <a:srgbClr val="111827"/>
                </a:solidFill>
              </a:rPr>
              <a:t>Product Vision — Building a next-generation business publishing ecosystem combining documents, presentations, collaboration, branding, and multi-format publishing workflows</a:t>
            </a:r>
            <a:endParaRPr lang="en-US" sz="1400" dirty="0"/>
          </a:p>
          <a:p>
            <a:pPr algn="l" indent="0" marL="0">
              <a:buNone/>
            </a:pPr>
            <a:r>
              <a:rPr lang="en-US" sz="1400" dirty="0">
                <a:solidFill>
                  <a:srgbClr val="111827"/>
                </a:solidFill>
              </a:rPr>
              <a:t>Future expansion plans include strategic advisors in SaaS growth, enterprise publishing, product scaling, and business development</a:t>
            </a:r>
            <a:endParaRPr lang="en-US" sz="1400" dirty="0"/>
          </a:p>
        </p:txBody>
      </p:sp>
      <p:sp>
        <p:nvSpPr>
          <p:cNvPr id="5" name="Text 3"/>
          <p:cNvSpPr/>
          <p:nvPr/>
        </p:nvSpPr>
        <p:spPr>
          <a:xfrm>
            <a:off x="731502" y="3566160"/>
            <a:ext cx="10728692" cy="822960"/>
          </a:xfrm>
          <a:prstGeom prst="rect">
            <a:avLst/>
          </a:prstGeom>
          <a:noFill/>
          <a:ln/>
        </p:spPr>
        <p:txBody>
          <a:bodyPr wrap="square" rtlCol="0" anchor="t"/>
          <a:lstStyle/>
          <a:p>
            <a:pPr algn="l"/>
            <a:r>
              <a:rPr lang="en-US" sz="1400" dirty="0">
                <a:solidFill>
                  <a:srgbClr val="111827"/>
                </a:solidFill>
              </a:rPr>
              <a:t>Alumni from Founder, Product, Lead</a:t>
            </a:r>
            <a:endParaRPr lang="en-US" sz="1400" dirty="0"/>
          </a:p>
        </p:txBody>
      </p:sp>
      <p:sp>
        <p:nvSpPr>
          <p:cNvPr id="6" name="Shape 4"/>
          <p:cNvSpPr/>
          <p:nvPr/>
        </p:nvSpPr>
        <p:spPr>
          <a:xfrm>
            <a:off x="731502" y="4526280"/>
            <a:ext cx="10728692" cy="2743200"/>
          </a:xfrm>
          <a:prstGeom prst="roundRect">
            <a:avLst>
              <a:gd name="adj" fmla="val 2000"/>
            </a:avLst>
          </a:prstGeom>
          <a:solidFill>
            <a:srgbClr val="F8FAFC"/>
          </a:solidFill>
          <a:ln w="12700">
            <a:solidFill>
              <a:srgbClr val="E2E8F0"/>
            </a:solidFill>
            <a:prstDash val="solid"/>
          </a:ln>
        </p:spPr>
      </p:sp>
      <p:sp>
        <p:nvSpPr>
          <p:cNvPr id="7" name="Text 5"/>
          <p:cNvSpPr/>
          <p:nvPr/>
        </p:nvSpPr>
        <p:spPr>
          <a:xfrm>
            <a:off x="822942" y="4617720"/>
            <a:ext cx="10545812" cy="365760"/>
          </a:xfrm>
          <a:prstGeom prst="rect">
            <a:avLst/>
          </a:prstGeom>
          <a:noFill/>
          <a:ln/>
        </p:spPr>
        <p:txBody>
          <a:bodyPr wrap="square" rtlCol="0" anchor="ctr"/>
          <a:lstStyle/>
          <a:p>
            <a:pPr algn="ctr" indent="0" marL="0">
              <a:buNone/>
            </a:pPr>
            <a:r>
              <a:rPr lang="en-US" sz="1300" b="1" dirty="0">
                <a:solidFill>
                  <a:srgbClr val="111827"/>
                </a:solidFill>
              </a:rPr>
              <a:t>Team Member 1</a:t>
            </a:r>
            <a:endParaRPr lang="en-US" sz="1300" dirty="0"/>
          </a:p>
        </p:txBody>
      </p:sp>
      <p:sp>
        <p:nvSpPr>
          <p:cNvPr id="8" name="Text 6"/>
          <p:cNvSpPr/>
          <p:nvPr/>
        </p:nvSpPr>
        <p:spPr>
          <a:xfrm>
            <a:off x="822942" y="4983480"/>
            <a:ext cx="10545812" cy="274320"/>
          </a:xfrm>
          <a:prstGeom prst="rect">
            <a:avLst/>
          </a:prstGeom>
          <a:noFill/>
          <a:ln/>
        </p:spPr>
        <p:txBody>
          <a:bodyPr wrap="square" rtlCol="0" anchor="ctr"/>
          <a:lstStyle/>
          <a:p>
            <a:pPr algn="ctr" indent="0" marL="0">
              <a:buNone/>
            </a:pPr>
            <a:r>
              <a:rPr lang="en-US" sz="1100" dirty="0">
                <a:solidFill>
                  <a:srgbClr val="16A34A"/>
                </a:solidFill>
              </a:rPr>
              <a:t>Founder</a:t>
            </a:r>
            <a:endParaRPr lang="en-US" sz="1100" dirty="0"/>
          </a:p>
        </p:txBody>
      </p:sp>
      <p:sp>
        <p:nvSpPr>
          <p:cNvPr id="9" name="Text 7"/>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0" name="Text 8"/>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The Ask</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The audience should understand the value and growth potential of Pitchonix and move toward investment, partnership, adoption, or strategic collaboration opportunities.</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is seeking an initial funding round to accelerate product development, platform scaling, infrastructure optimization, and market expansion. Funds will primarily be used for engineering, publishing engine development, design systems, export infrastructure, collaboration features, cloud infrastructure, and go-to-market growth including partnerships, onboarding, and customer acquisition.</a:t>
            </a:r>
            <a:endParaRPr lang="en-US" sz="1400" dirty="0"/>
          </a:p>
        </p:txBody>
      </p:sp>
      <p:sp>
        <p:nvSpPr>
          <p:cNvPr id="5" name="Shape 3"/>
          <p:cNvSpPr/>
          <p:nvPr/>
        </p:nvSpPr>
        <p:spPr>
          <a:xfrm>
            <a:off x="731502" y="3566160"/>
            <a:ext cx="2579303" cy="1920240"/>
          </a:xfrm>
          <a:prstGeom prst="roundRect">
            <a:avLst>
              <a:gd name="adj" fmla="val 2857"/>
            </a:avLst>
          </a:prstGeom>
          <a:solidFill>
            <a:srgbClr val="F8FAFC"/>
          </a:solidFill>
          <a:ln w="12700">
            <a:solidFill>
              <a:srgbClr val="E2E8F0"/>
            </a:solidFill>
            <a:prstDash val="solid"/>
          </a:ln>
        </p:spPr>
      </p:sp>
      <p:sp>
        <p:nvSpPr>
          <p:cNvPr id="6" name="Text 4"/>
          <p:cNvSpPr/>
          <p:nvPr/>
        </p:nvSpPr>
        <p:spPr>
          <a:xfrm>
            <a:off x="841230" y="3950208"/>
            <a:ext cx="2359847" cy="365760"/>
          </a:xfrm>
          <a:prstGeom prst="rect">
            <a:avLst/>
          </a:prstGeom>
          <a:noFill/>
          <a:ln/>
        </p:spPr>
        <p:txBody>
          <a:bodyPr wrap="square" rtlCol="0" anchor="ctr"/>
          <a:lstStyle/>
          <a:p>
            <a:pPr indent="0" marL="0">
              <a:buNone/>
            </a:pPr>
            <a:r>
              <a:rPr lang="en-US" sz="1300" b="1" dirty="0">
                <a:solidFill>
                  <a:srgbClr val="111827"/>
                </a:solidFill>
              </a:rPr>
              <a:t>Item 1</a:t>
            </a:r>
            <a:endParaRPr lang="en-US" sz="1300" dirty="0"/>
          </a:p>
        </p:txBody>
      </p:sp>
      <p:sp>
        <p:nvSpPr>
          <p:cNvPr id="7" name="Shape 5"/>
          <p:cNvSpPr/>
          <p:nvPr/>
        </p:nvSpPr>
        <p:spPr>
          <a:xfrm>
            <a:off x="3447965" y="3566160"/>
            <a:ext cx="2579303" cy="1920240"/>
          </a:xfrm>
          <a:prstGeom prst="roundRect">
            <a:avLst>
              <a:gd name="adj" fmla="val 2857"/>
            </a:avLst>
          </a:prstGeom>
          <a:solidFill>
            <a:srgbClr val="F8FAFC"/>
          </a:solidFill>
          <a:ln w="12700">
            <a:solidFill>
              <a:srgbClr val="E2E8F0"/>
            </a:solidFill>
            <a:prstDash val="solid"/>
          </a:ln>
        </p:spPr>
      </p:sp>
      <p:sp>
        <p:nvSpPr>
          <p:cNvPr id="8" name="Text 6"/>
          <p:cNvSpPr/>
          <p:nvPr/>
        </p:nvSpPr>
        <p:spPr>
          <a:xfrm>
            <a:off x="3557693" y="3950208"/>
            <a:ext cx="2359847" cy="365760"/>
          </a:xfrm>
          <a:prstGeom prst="rect">
            <a:avLst/>
          </a:prstGeom>
          <a:noFill/>
          <a:ln/>
        </p:spPr>
        <p:txBody>
          <a:bodyPr wrap="square" rtlCol="0" anchor="ctr"/>
          <a:lstStyle/>
          <a:p>
            <a:pPr indent="0" marL="0">
              <a:buNone/>
            </a:pPr>
            <a:r>
              <a:rPr lang="en-US" sz="1300" b="1" dirty="0">
                <a:solidFill>
                  <a:srgbClr val="111827"/>
                </a:solidFill>
              </a:rPr>
              <a:t>Item 2</a:t>
            </a:r>
            <a:endParaRPr lang="en-US" sz="1300" dirty="0"/>
          </a:p>
        </p:txBody>
      </p:sp>
      <p:sp>
        <p:nvSpPr>
          <p:cNvPr id="9" name="Shape 7"/>
          <p:cNvSpPr/>
          <p:nvPr/>
        </p:nvSpPr>
        <p:spPr>
          <a:xfrm>
            <a:off x="6164428" y="3566160"/>
            <a:ext cx="2579303" cy="1920240"/>
          </a:xfrm>
          <a:prstGeom prst="roundRect">
            <a:avLst>
              <a:gd name="adj" fmla="val 2857"/>
            </a:avLst>
          </a:prstGeom>
          <a:solidFill>
            <a:srgbClr val="F8FAFC"/>
          </a:solidFill>
          <a:ln w="12700">
            <a:solidFill>
              <a:srgbClr val="E2E8F0"/>
            </a:solidFill>
            <a:prstDash val="solid"/>
          </a:ln>
        </p:spPr>
      </p:sp>
      <p:sp>
        <p:nvSpPr>
          <p:cNvPr id="10" name="Text 8"/>
          <p:cNvSpPr/>
          <p:nvPr/>
        </p:nvSpPr>
        <p:spPr>
          <a:xfrm>
            <a:off x="6274156" y="3950208"/>
            <a:ext cx="2359847" cy="365760"/>
          </a:xfrm>
          <a:prstGeom prst="rect">
            <a:avLst/>
          </a:prstGeom>
          <a:noFill/>
          <a:ln/>
        </p:spPr>
        <p:txBody>
          <a:bodyPr wrap="square" rtlCol="0" anchor="ctr"/>
          <a:lstStyle/>
          <a:p>
            <a:pPr indent="0" marL="0">
              <a:buNone/>
            </a:pPr>
            <a:r>
              <a:rPr lang="en-US" sz="1300" b="1" dirty="0">
                <a:solidFill>
                  <a:srgbClr val="111827"/>
                </a:solidFill>
              </a:rPr>
              <a:t>Item 3</a:t>
            </a:r>
            <a:endParaRPr lang="en-US" sz="1300" dirty="0"/>
          </a:p>
        </p:txBody>
      </p:sp>
      <p:sp>
        <p:nvSpPr>
          <p:cNvPr id="11" name="Shape 9"/>
          <p:cNvSpPr/>
          <p:nvPr/>
        </p:nvSpPr>
        <p:spPr>
          <a:xfrm>
            <a:off x="8880891" y="3566160"/>
            <a:ext cx="2579303" cy="1920240"/>
          </a:xfrm>
          <a:prstGeom prst="roundRect">
            <a:avLst>
              <a:gd name="adj" fmla="val 2857"/>
            </a:avLst>
          </a:prstGeom>
          <a:solidFill>
            <a:srgbClr val="F8FAFC"/>
          </a:solidFill>
          <a:ln w="12700">
            <a:solidFill>
              <a:srgbClr val="E2E8F0"/>
            </a:solidFill>
            <a:prstDash val="solid"/>
          </a:ln>
        </p:spPr>
      </p:sp>
      <p:sp>
        <p:nvSpPr>
          <p:cNvPr id="12" name="Text 10"/>
          <p:cNvSpPr/>
          <p:nvPr/>
        </p:nvSpPr>
        <p:spPr>
          <a:xfrm>
            <a:off x="8990619" y="3950208"/>
            <a:ext cx="2359847" cy="365760"/>
          </a:xfrm>
          <a:prstGeom prst="rect">
            <a:avLst/>
          </a:prstGeom>
          <a:noFill/>
          <a:ln/>
        </p:spPr>
        <p:txBody>
          <a:bodyPr wrap="square" rtlCol="0" anchor="ctr"/>
          <a:lstStyle/>
          <a:p>
            <a:pPr indent="0" marL="0">
              <a:buNone/>
            </a:pPr>
            <a:r>
              <a:rPr lang="en-US" sz="1300" b="1" dirty="0">
                <a:solidFill>
                  <a:srgbClr val="111827"/>
                </a:solidFill>
              </a:rPr>
              <a:t>Item 4</a:t>
            </a:r>
            <a:endParaRPr lang="en-US" sz="1300" dirty="0"/>
          </a:p>
        </p:txBody>
      </p:sp>
      <p:sp>
        <p:nvSpPr>
          <p:cNvPr id="13" name="Text 11"/>
          <p:cNvSpPr/>
          <p:nvPr/>
        </p:nvSpPr>
        <p:spPr>
          <a:xfrm>
            <a:off x="731502" y="5623560"/>
            <a:ext cx="10728692" cy="548640"/>
          </a:xfrm>
          <a:prstGeom prst="rect">
            <a:avLst/>
          </a:prstGeom>
          <a:noFill/>
          <a:ln/>
        </p:spPr>
        <p:txBody>
          <a:bodyPr wrap="square" rtlCol="0" anchor="t"/>
          <a:lstStyle/>
          <a:p>
            <a:pPr algn="l" indent="0" marL="0">
              <a:buNone/>
            </a:pPr>
            <a:r>
              <a:rPr lang="en-US" sz="1400" dirty="0">
                <a:solidFill>
                  <a:srgbClr val="111827"/>
                </a:solidFill>
              </a:rPr>
              <a:t>Pitchonix · www.cykel.com</a:t>
            </a:r>
            <a:endParaRPr lang="en-US" sz="1400" dirty="0"/>
          </a:p>
        </p:txBody>
      </p:sp>
      <p:sp>
        <p:nvSpPr>
          <p:cNvPr id="14" name="Text 1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5" name="Text 1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Executive Summary</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Key highlights</a:t>
            </a:r>
            <a:endParaRPr lang="en-US" sz="1800" dirty="0"/>
          </a:p>
        </p:txBody>
      </p:sp>
      <p:sp>
        <p:nvSpPr>
          <p:cNvPr id="4" name="Text 2"/>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5" name="Text 3"/>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Competitive Landscape</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How we compare</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Main competitors include Canva, Pitch, Gamma, Adobe Express, Google Slides, and Notion. While these platforms offer strong design or collaboration capabilities, most are either too presentation-focused, too generic, or lack advanced business publishing workflows, structured document systems, premium editorial layouts, and reliable multi-format export architecture tailored for professional business communication.</a:t>
            </a:r>
            <a:endParaRPr lang="en-US" sz="1400" dirty="0"/>
          </a:p>
        </p:txBody>
      </p:sp>
      <p:sp>
        <p:nvSpPr>
          <p:cNvPr id="5" name="Text 3"/>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6" name="Text 4"/>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Product Roadmap</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Where we're going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Launch the next-generation block-based publishing engine with advanced visual layouts and structured document workflows</a:t>
            </a:r>
            <a:endParaRPr lang="en-US" sz="1400" dirty="0"/>
          </a:p>
          <a:p>
            <a:pPr algn="l" indent="0" marL="0">
              <a:buNone/>
            </a:pPr>
            <a:r>
              <a:rPr lang="en-US" sz="1400" dirty="0">
                <a:solidFill>
                  <a:srgbClr val="111827"/>
                </a:solidFill>
              </a:rPr>
              <a:t>Expand PDF Studio into a full professional publishing platform with editorial layouts, dynamic grids, and premium template systems</a:t>
            </a:r>
            <a:endParaRPr lang="en-US" sz="1400" dirty="0"/>
          </a:p>
          <a:p>
            <a:pPr algn="l" indent="0" marL="0">
              <a:buNone/>
            </a:pPr>
            <a:r>
              <a:rPr lang="en-US" sz="1400" dirty="0">
                <a:solidFill>
                  <a:srgbClr val="111827"/>
                </a:solidFill>
              </a:rPr>
              <a:t>Release collaboration features including comments, version history, team workflows, and shared workspaces</a:t>
            </a:r>
            <a:endParaRPr lang="en-US" sz="1400" dirty="0"/>
          </a:p>
          <a:p>
            <a:pPr algn="l" indent="0" marL="0">
              <a:buNone/>
            </a:pPr>
            <a:r>
              <a:rPr lang="en-US" sz="1400" dirty="0">
                <a:solidFill>
                  <a:srgbClr val="111827"/>
                </a:solidFill>
              </a:rPr>
              <a:t>Introduce responsive web publishing and interactive document experiences alongside traditional exports</a:t>
            </a:r>
            <a:endParaRPr lang="en-US" sz="1400" dirty="0"/>
          </a:p>
          <a:p>
            <a:pPr algn="l" indent="0" marL="0">
              <a:buNone/>
            </a:pPr>
            <a:r>
              <a:rPr lang="en-US" sz="1400" dirty="0">
                <a:solidFill>
                  <a:srgbClr val="111827"/>
                </a:solidFill>
              </a:rPr>
              <a:t>Scale the template ecosystem with industry-specific Pro Templates, Brand Kits, and advanced design systems</a:t>
            </a:r>
            <a:endParaRPr lang="en-US" sz="1400" dirty="0"/>
          </a:p>
          <a:p>
            <a:pPr algn="l" indent="0" marL="0">
              <a:buNone/>
            </a:pPr>
            <a:r>
              <a:rPr lang="en-US" sz="1400" dirty="0">
                <a:solidFill>
                  <a:srgbClr val="111827"/>
                </a:solidFill>
              </a:rPr>
              <a:t>Optimize enterprise-grade export infrastructure for PDF, DOCX, PPTX, and web publishing reliability</a:t>
            </a:r>
            <a:endParaRPr lang="en-US" sz="1400" dirty="0"/>
          </a:p>
          <a:p>
            <a:pPr algn="l" indent="0" marL="0">
              <a:buNone/>
            </a:pPr>
            <a:r>
              <a:rPr lang="en-US" sz="1400" dirty="0">
                <a:solidFill>
                  <a:srgbClr val="111827"/>
                </a:solidFill>
              </a:rPr>
              <a:t>Expand analytics, automation, and workspace management capabilities for teams and organizations</a:t>
            </a:r>
            <a:endParaRPr lang="en-US" sz="1400" dirty="0"/>
          </a:p>
          <a:p>
            <a:pPr algn="l" indent="0" marL="0">
              <a:buNone/>
            </a:pPr>
            <a:r>
              <a:rPr lang="en-US" sz="1400" dirty="0">
                <a:solidFill>
                  <a:srgbClr val="111827"/>
                </a:solidFill>
              </a:rPr>
              <a:t>Grow into a complete business publishing ecosystem serving startups, agencies, consultants, and enterprise teams globally</a:t>
            </a:r>
            <a:endParaRPr lang="en-US" sz="1400" dirty="0"/>
          </a:p>
        </p:txBody>
      </p:sp>
      <p:sp>
        <p:nvSpPr>
          <p:cNvPr id="5" name="Shape 3"/>
          <p:cNvSpPr/>
          <p:nvPr/>
        </p:nvSpPr>
        <p:spPr>
          <a:xfrm>
            <a:off x="731502" y="3566160"/>
            <a:ext cx="3484791" cy="2194560"/>
          </a:xfrm>
          <a:prstGeom prst="roundRect">
            <a:avLst>
              <a:gd name="adj" fmla="val 2500"/>
            </a:avLst>
          </a:prstGeom>
          <a:solidFill>
            <a:srgbClr val="F8FAFC"/>
          </a:solidFill>
          <a:ln w="12700">
            <a:solidFill>
              <a:srgbClr val="E2E8F0"/>
            </a:solidFill>
            <a:prstDash val="solid"/>
          </a:ln>
        </p:spPr>
      </p:sp>
      <p:sp>
        <p:nvSpPr>
          <p:cNvPr id="6" name="Text 4"/>
          <p:cNvSpPr/>
          <p:nvPr/>
        </p:nvSpPr>
        <p:spPr>
          <a:xfrm>
            <a:off x="841230" y="3950208"/>
            <a:ext cx="3265335" cy="365760"/>
          </a:xfrm>
          <a:prstGeom prst="rect">
            <a:avLst/>
          </a:prstGeom>
          <a:noFill/>
          <a:ln/>
        </p:spPr>
        <p:txBody>
          <a:bodyPr wrap="square" rtlCol="0" anchor="ctr"/>
          <a:lstStyle/>
          <a:p>
            <a:pPr indent="0" marL="0">
              <a:buNone/>
            </a:pPr>
            <a:r>
              <a:rPr lang="en-US" sz="1300" b="1" dirty="0">
                <a:solidFill>
                  <a:srgbClr val="111827"/>
                </a:solidFill>
              </a:rPr>
              <a:t>Phase 1</a:t>
            </a:r>
            <a:endParaRPr lang="en-US" sz="1300" dirty="0"/>
          </a:p>
        </p:txBody>
      </p:sp>
      <p:sp>
        <p:nvSpPr>
          <p:cNvPr id="7" name="Shape 5"/>
          <p:cNvSpPr/>
          <p:nvPr/>
        </p:nvSpPr>
        <p:spPr>
          <a:xfrm>
            <a:off x="4353452" y="3566160"/>
            <a:ext cx="3484791" cy="2194560"/>
          </a:xfrm>
          <a:prstGeom prst="roundRect">
            <a:avLst>
              <a:gd name="adj" fmla="val 2500"/>
            </a:avLst>
          </a:prstGeom>
          <a:solidFill>
            <a:srgbClr val="F8FAFC"/>
          </a:solidFill>
          <a:ln w="12700">
            <a:solidFill>
              <a:srgbClr val="E2E8F0"/>
            </a:solidFill>
            <a:prstDash val="solid"/>
          </a:ln>
        </p:spPr>
      </p:sp>
      <p:sp>
        <p:nvSpPr>
          <p:cNvPr id="8" name="Text 6"/>
          <p:cNvSpPr/>
          <p:nvPr/>
        </p:nvSpPr>
        <p:spPr>
          <a:xfrm>
            <a:off x="4463180" y="3950208"/>
            <a:ext cx="3265335" cy="365760"/>
          </a:xfrm>
          <a:prstGeom prst="rect">
            <a:avLst/>
          </a:prstGeom>
          <a:noFill/>
          <a:ln/>
        </p:spPr>
        <p:txBody>
          <a:bodyPr wrap="square" rtlCol="0" anchor="ctr"/>
          <a:lstStyle/>
          <a:p>
            <a:pPr indent="0" marL="0">
              <a:buNone/>
            </a:pPr>
            <a:r>
              <a:rPr lang="en-US" sz="1300" b="1" dirty="0">
                <a:solidFill>
                  <a:srgbClr val="111827"/>
                </a:solidFill>
              </a:rPr>
              <a:t>Phase 2</a:t>
            </a:r>
            <a:endParaRPr lang="en-US" sz="1300" dirty="0"/>
          </a:p>
        </p:txBody>
      </p:sp>
      <p:sp>
        <p:nvSpPr>
          <p:cNvPr id="9" name="Shape 7"/>
          <p:cNvSpPr/>
          <p:nvPr/>
        </p:nvSpPr>
        <p:spPr>
          <a:xfrm>
            <a:off x="7975403" y="3566160"/>
            <a:ext cx="3484791" cy="2194560"/>
          </a:xfrm>
          <a:prstGeom prst="roundRect">
            <a:avLst>
              <a:gd name="adj" fmla="val 2500"/>
            </a:avLst>
          </a:prstGeom>
          <a:solidFill>
            <a:srgbClr val="F8FAFC"/>
          </a:solidFill>
          <a:ln w="12700">
            <a:solidFill>
              <a:srgbClr val="E2E8F0"/>
            </a:solidFill>
            <a:prstDash val="solid"/>
          </a:ln>
        </p:spPr>
      </p:sp>
      <p:sp>
        <p:nvSpPr>
          <p:cNvPr id="10" name="Text 8"/>
          <p:cNvSpPr/>
          <p:nvPr/>
        </p:nvSpPr>
        <p:spPr>
          <a:xfrm>
            <a:off x="8085131" y="3950208"/>
            <a:ext cx="3265335" cy="365760"/>
          </a:xfrm>
          <a:prstGeom prst="rect">
            <a:avLst/>
          </a:prstGeom>
          <a:noFill/>
          <a:ln/>
        </p:spPr>
        <p:txBody>
          <a:bodyPr wrap="square" rtlCol="0" anchor="ctr"/>
          <a:lstStyle/>
          <a:p>
            <a:pPr indent="0" marL="0">
              <a:buNone/>
            </a:pPr>
            <a:r>
              <a:rPr lang="en-US" sz="1300" b="1" dirty="0">
                <a:solidFill>
                  <a:srgbClr val="111827"/>
                </a:solidFill>
              </a:rPr>
              <a:t>Phase 3</a:t>
            </a:r>
            <a:endParaRPr lang="en-US" sz="1300" dirty="0"/>
          </a:p>
        </p:txBody>
      </p:sp>
      <p:sp>
        <p:nvSpPr>
          <p:cNvPr id="11" name="Text 9"/>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2" name="Text 10"/>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02" y="548640"/>
            <a:ext cx="10728692" cy="960120"/>
          </a:xfrm>
          <a:prstGeom prst="rect">
            <a:avLst/>
          </a:prstGeom>
          <a:noFill/>
          <a:ln/>
        </p:spPr>
        <p:txBody>
          <a:bodyPr wrap="square" rtlCol="0" anchor="t"/>
          <a:lstStyle/>
          <a:p>
            <a:pPr algn="l" indent="0" marL="0">
              <a:buNone/>
            </a:pPr>
            <a:r>
              <a:rPr lang="en-US" sz="3200" b="1" dirty="0">
                <a:solidFill>
                  <a:srgbClr val="111827"/>
                </a:solidFill>
              </a:rPr>
              <a:t>Pricing</a:t>
            </a:r>
            <a:endParaRPr lang="en-US" sz="3200" dirty="0"/>
          </a:p>
        </p:txBody>
      </p:sp>
      <p:sp>
        <p:nvSpPr>
          <p:cNvPr id="3" name="Text 1"/>
          <p:cNvSpPr/>
          <p:nvPr/>
        </p:nvSpPr>
        <p:spPr>
          <a:xfrm>
            <a:off x="731502" y="1508760"/>
            <a:ext cx="10728692" cy="548640"/>
          </a:xfrm>
          <a:prstGeom prst="rect">
            <a:avLst/>
          </a:prstGeom>
          <a:noFill/>
          <a:ln/>
        </p:spPr>
        <p:txBody>
          <a:bodyPr wrap="square" rtlCol="0" anchor="t"/>
          <a:lstStyle/>
          <a:p>
            <a:pPr algn="l" indent="0" marL="0">
              <a:buNone/>
            </a:pPr>
            <a:r>
              <a:rPr lang="en-US" sz="1800" dirty="0">
                <a:solidFill>
                  <a:srgbClr val="475569"/>
                </a:solidFill>
              </a:rPr>
              <a:t>Simple, transparent pricing</a:t>
            </a:r>
            <a:endParaRPr lang="en-US" sz="1800" dirty="0"/>
          </a:p>
        </p:txBody>
      </p:sp>
      <p:sp>
        <p:nvSpPr>
          <p:cNvPr id="4" name="Text 2"/>
          <p:cNvSpPr/>
          <p:nvPr/>
        </p:nvSpPr>
        <p:spPr>
          <a:xfrm>
            <a:off x="731502" y="2194560"/>
            <a:ext cx="10728692" cy="1234440"/>
          </a:xfrm>
          <a:prstGeom prst="rect">
            <a:avLst/>
          </a:prstGeom>
          <a:noFill/>
          <a:ln/>
        </p:spPr>
        <p:txBody>
          <a:bodyPr wrap="square" rtlCol="0" anchor="t"/>
          <a:lstStyle/>
          <a:p>
            <a:pPr algn="l" indent="0" marL="0">
              <a:buNone/>
            </a:pPr>
            <a:r>
              <a:rPr lang="en-US" sz="1400" dirty="0">
                <a:solidFill>
                  <a:srgbClr val="111827"/>
                </a:solidFill>
              </a:rPr>
              <a:t>Pitchonix uses a tiered pricing strategy designed for individuals, teams, and enterprises. Plans include a free starter tier, professional subscriptions for advanced publishing and export features, team collaboration plans with shared workspaces and brand kits, and enterprise solutions with custom workflows and scalability support. Average deal sizes increase through team adoption, premium templates, advanced publishing tools, and enterprise workspace expansion, creating scalable recurring revenue and strong long-term customer value.</a:t>
            </a:r>
            <a:endParaRPr lang="en-US" sz="1400" dirty="0"/>
          </a:p>
        </p:txBody>
      </p:sp>
      <p:sp>
        <p:nvSpPr>
          <p:cNvPr id="5" name="Shape 3"/>
          <p:cNvSpPr/>
          <p:nvPr/>
        </p:nvSpPr>
        <p:spPr>
          <a:xfrm>
            <a:off x="731502" y="3566160"/>
            <a:ext cx="3454311" cy="2743200"/>
          </a:xfrm>
          <a:prstGeom prst="roundRect">
            <a:avLst>
              <a:gd name="adj" fmla="val 3333"/>
            </a:avLst>
          </a:prstGeom>
          <a:solidFill>
            <a:srgbClr val="FFFFFF"/>
          </a:solidFill>
          <a:ln w="12700">
            <a:solidFill>
              <a:srgbClr val="E2E8F0"/>
            </a:solidFill>
            <a:prstDash val="solid"/>
          </a:ln>
        </p:spPr>
      </p:sp>
      <p:sp>
        <p:nvSpPr>
          <p:cNvPr id="6" name="Text 4"/>
          <p:cNvSpPr/>
          <p:nvPr/>
        </p:nvSpPr>
        <p:spPr>
          <a:xfrm>
            <a:off x="868662" y="3703320"/>
            <a:ext cx="3179991" cy="365760"/>
          </a:xfrm>
          <a:prstGeom prst="rect">
            <a:avLst/>
          </a:prstGeom>
          <a:noFill/>
          <a:ln/>
        </p:spPr>
        <p:txBody>
          <a:bodyPr wrap="square" rtlCol="0" anchor="ctr"/>
          <a:lstStyle/>
          <a:p>
            <a:pPr indent="0" marL="0">
              <a:buNone/>
            </a:pPr>
            <a:r>
              <a:rPr lang="en-US" sz="1400" b="1" dirty="0">
                <a:solidFill>
                  <a:srgbClr val="111827"/>
                </a:solidFill>
              </a:rPr>
              <a:t>Starter</a:t>
            </a:r>
            <a:endParaRPr lang="en-US" sz="1400" dirty="0"/>
          </a:p>
        </p:txBody>
      </p:sp>
      <p:sp>
        <p:nvSpPr>
          <p:cNvPr id="7" name="Text 5"/>
          <p:cNvSpPr/>
          <p:nvPr/>
        </p:nvSpPr>
        <p:spPr>
          <a:xfrm>
            <a:off x="868662" y="4114800"/>
            <a:ext cx="3179991" cy="548640"/>
          </a:xfrm>
          <a:prstGeom prst="rect">
            <a:avLst/>
          </a:prstGeom>
          <a:noFill/>
          <a:ln/>
        </p:spPr>
        <p:txBody>
          <a:bodyPr wrap="square" rtlCol="0" anchor="ctr"/>
          <a:lstStyle/>
          <a:p>
            <a:pPr indent="0" marL="0">
              <a:buNone/>
            </a:pPr>
            <a:r>
              <a:rPr lang="en-US" sz="2200" b="1" dirty="0">
                <a:solidFill>
                  <a:srgbClr val="16A34A"/>
                </a:solidFill>
              </a:rPr>
              <a:t>$99/mo</a:t>
            </a:r>
            <a:endParaRPr lang="en-US" sz="2200" dirty="0"/>
          </a:p>
        </p:txBody>
      </p:sp>
      <p:sp>
        <p:nvSpPr>
          <p:cNvPr id="8" name="Text 6"/>
          <p:cNvSpPr/>
          <p:nvPr/>
        </p:nvSpPr>
        <p:spPr>
          <a:xfrm>
            <a:off x="91438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Basic features</a:t>
            </a:r>
            <a:endParaRPr lang="en-US" sz="1100" dirty="0"/>
          </a:p>
          <a:p>
            <a:pPr marL="342900" indent="-342900">
              <a:buSzPct val="100000"/>
              <a:buChar char="•"/>
            </a:pPr>
            <a:r>
              <a:rPr lang="en-US" sz="1100" dirty="0">
                <a:solidFill>
                  <a:srgbClr val="475569"/>
                </a:solidFill>
              </a:rPr>
              <a:t>Email support</a:t>
            </a:r>
            <a:endParaRPr lang="en-US" sz="1100" dirty="0"/>
          </a:p>
          <a:p>
            <a:pPr marL="342900" indent="-342900">
              <a:buSzPct val="100000"/>
              <a:buChar char="•"/>
            </a:pPr>
            <a:r>
              <a:rPr lang="en-US" sz="1100" dirty="0">
                <a:solidFill>
                  <a:srgbClr val="475569"/>
                </a:solidFill>
              </a:rPr>
              <a:t>10 users</a:t>
            </a:r>
            <a:endParaRPr lang="en-US" sz="1100" dirty="0"/>
          </a:p>
        </p:txBody>
      </p:sp>
      <p:sp>
        <p:nvSpPr>
          <p:cNvPr id="9" name="Shape 7"/>
          <p:cNvSpPr/>
          <p:nvPr/>
        </p:nvSpPr>
        <p:spPr>
          <a:xfrm>
            <a:off x="4368692" y="3566160"/>
            <a:ext cx="3454311" cy="2743200"/>
          </a:xfrm>
          <a:prstGeom prst="roundRect">
            <a:avLst>
              <a:gd name="adj" fmla="val 3333"/>
            </a:avLst>
          </a:prstGeom>
          <a:solidFill>
            <a:srgbClr val="FFFFFF"/>
          </a:solidFill>
          <a:ln w="12700">
            <a:solidFill>
              <a:srgbClr val="E2E8F0"/>
            </a:solidFill>
            <a:prstDash val="solid"/>
          </a:ln>
        </p:spPr>
      </p:sp>
      <p:sp>
        <p:nvSpPr>
          <p:cNvPr id="10" name="Text 8"/>
          <p:cNvSpPr/>
          <p:nvPr/>
        </p:nvSpPr>
        <p:spPr>
          <a:xfrm>
            <a:off x="4505852" y="3703320"/>
            <a:ext cx="3179991" cy="365760"/>
          </a:xfrm>
          <a:prstGeom prst="rect">
            <a:avLst/>
          </a:prstGeom>
          <a:noFill/>
          <a:ln/>
        </p:spPr>
        <p:txBody>
          <a:bodyPr wrap="square" rtlCol="0" anchor="ctr"/>
          <a:lstStyle/>
          <a:p>
            <a:pPr indent="0" marL="0">
              <a:buNone/>
            </a:pPr>
            <a:r>
              <a:rPr lang="en-US" sz="1400" b="1" dirty="0">
                <a:solidFill>
                  <a:srgbClr val="111827"/>
                </a:solidFill>
              </a:rPr>
              <a:t>Professional</a:t>
            </a:r>
            <a:endParaRPr lang="en-US" sz="1400" dirty="0"/>
          </a:p>
        </p:txBody>
      </p:sp>
      <p:sp>
        <p:nvSpPr>
          <p:cNvPr id="11" name="Text 9"/>
          <p:cNvSpPr/>
          <p:nvPr/>
        </p:nvSpPr>
        <p:spPr>
          <a:xfrm>
            <a:off x="4505852" y="4114800"/>
            <a:ext cx="3179991" cy="548640"/>
          </a:xfrm>
          <a:prstGeom prst="rect">
            <a:avLst/>
          </a:prstGeom>
          <a:noFill/>
          <a:ln/>
        </p:spPr>
        <p:txBody>
          <a:bodyPr wrap="square" rtlCol="0" anchor="ctr"/>
          <a:lstStyle/>
          <a:p>
            <a:pPr indent="0" marL="0">
              <a:buNone/>
            </a:pPr>
            <a:r>
              <a:rPr lang="en-US" sz="2200" b="1" dirty="0">
                <a:solidFill>
                  <a:srgbClr val="16A34A"/>
                </a:solidFill>
              </a:rPr>
              <a:t>$299/mo</a:t>
            </a:r>
            <a:endParaRPr lang="en-US" sz="2200" dirty="0"/>
          </a:p>
        </p:txBody>
      </p:sp>
      <p:sp>
        <p:nvSpPr>
          <p:cNvPr id="12" name="Text 10"/>
          <p:cNvSpPr/>
          <p:nvPr/>
        </p:nvSpPr>
        <p:spPr>
          <a:xfrm>
            <a:off x="4551572"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Advanced features</a:t>
            </a:r>
            <a:endParaRPr lang="en-US" sz="1100" dirty="0"/>
          </a:p>
          <a:p>
            <a:pPr marL="342900" indent="-342900">
              <a:buSzPct val="100000"/>
              <a:buChar char="•"/>
            </a:pPr>
            <a:r>
              <a:rPr lang="en-US" sz="1100" dirty="0">
                <a:solidFill>
                  <a:srgbClr val="475569"/>
                </a:solidFill>
              </a:rPr>
              <a:t>Priority support</a:t>
            </a:r>
            <a:endParaRPr lang="en-US" sz="1100" dirty="0"/>
          </a:p>
          <a:p>
            <a:pPr marL="342900" indent="-342900">
              <a:buSzPct val="100000"/>
              <a:buChar char="•"/>
            </a:pPr>
            <a:r>
              <a:rPr lang="en-US" sz="1100" dirty="0">
                <a:solidFill>
                  <a:srgbClr val="475569"/>
                </a:solidFill>
              </a:rPr>
              <a:t>50 users</a:t>
            </a:r>
            <a:endParaRPr lang="en-US" sz="1100" dirty="0"/>
          </a:p>
        </p:txBody>
      </p:sp>
      <p:sp>
        <p:nvSpPr>
          <p:cNvPr id="13" name="Shape 11"/>
          <p:cNvSpPr/>
          <p:nvPr/>
        </p:nvSpPr>
        <p:spPr>
          <a:xfrm>
            <a:off x="8005883" y="3566160"/>
            <a:ext cx="3454311" cy="2743200"/>
          </a:xfrm>
          <a:prstGeom prst="roundRect">
            <a:avLst>
              <a:gd name="adj" fmla="val 3333"/>
            </a:avLst>
          </a:prstGeom>
          <a:solidFill>
            <a:srgbClr val="FFFFFF"/>
          </a:solidFill>
          <a:ln w="12700">
            <a:solidFill>
              <a:srgbClr val="E2E8F0"/>
            </a:solidFill>
            <a:prstDash val="solid"/>
          </a:ln>
        </p:spPr>
      </p:sp>
      <p:sp>
        <p:nvSpPr>
          <p:cNvPr id="14" name="Text 12"/>
          <p:cNvSpPr/>
          <p:nvPr/>
        </p:nvSpPr>
        <p:spPr>
          <a:xfrm>
            <a:off x="8143043" y="3703320"/>
            <a:ext cx="3179991" cy="365760"/>
          </a:xfrm>
          <a:prstGeom prst="rect">
            <a:avLst/>
          </a:prstGeom>
          <a:noFill/>
          <a:ln/>
        </p:spPr>
        <p:txBody>
          <a:bodyPr wrap="square" rtlCol="0" anchor="ctr"/>
          <a:lstStyle/>
          <a:p>
            <a:pPr indent="0" marL="0">
              <a:buNone/>
            </a:pPr>
            <a:r>
              <a:rPr lang="en-US" sz="1400" b="1" dirty="0">
                <a:solidFill>
                  <a:srgbClr val="111827"/>
                </a:solidFill>
              </a:rPr>
              <a:t>Enterprise</a:t>
            </a:r>
            <a:endParaRPr lang="en-US" sz="1400" dirty="0"/>
          </a:p>
        </p:txBody>
      </p:sp>
      <p:sp>
        <p:nvSpPr>
          <p:cNvPr id="15" name="Text 13"/>
          <p:cNvSpPr/>
          <p:nvPr/>
        </p:nvSpPr>
        <p:spPr>
          <a:xfrm>
            <a:off x="8143043" y="4114800"/>
            <a:ext cx="3179991" cy="548640"/>
          </a:xfrm>
          <a:prstGeom prst="rect">
            <a:avLst/>
          </a:prstGeom>
          <a:noFill/>
          <a:ln/>
        </p:spPr>
        <p:txBody>
          <a:bodyPr wrap="square" rtlCol="0" anchor="ctr"/>
          <a:lstStyle/>
          <a:p>
            <a:pPr indent="0" marL="0">
              <a:buNone/>
            </a:pPr>
            <a:r>
              <a:rPr lang="en-US" sz="2200" b="1" dirty="0">
                <a:solidFill>
                  <a:srgbClr val="16A34A"/>
                </a:solidFill>
              </a:rPr>
              <a:t>Custom</a:t>
            </a:r>
            <a:endParaRPr lang="en-US" sz="2200" dirty="0"/>
          </a:p>
        </p:txBody>
      </p:sp>
      <p:sp>
        <p:nvSpPr>
          <p:cNvPr id="16" name="Text 14"/>
          <p:cNvSpPr/>
          <p:nvPr/>
        </p:nvSpPr>
        <p:spPr>
          <a:xfrm>
            <a:off x="8188763" y="4754880"/>
            <a:ext cx="3088551" cy="1463040"/>
          </a:xfrm>
          <a:prstGeom prst="rect">
            <a:avLst/>
          </a:prstGeom>
          <a:noFill/>
          <a:ln/>
        </p:spPr>
        <p:txBody>
          <a:bodyPr wrap="square" rtlCol="0" anchor="ctr"/>
          <a:lstStyle/>
          <a:p>
            <a:pPr marL="342900" indent="-342900">
              <a:buSzPct val="100000"/>
              <a:buChar char="•"/>
            </a:pPr>
            <a:r>
              <a:rPr lang="en-US" sz="1100" dirty="0">
                <a:solidFill>
                  <a:srgbClr val="475569"/>
                </a:solidFill>
              </a:rPr>
              <a:t>All features</a:t>
            </a:r>
            <a:endParaRPr lang="en-US" sz="1100" dirty="0"/>
          </a:p>
          <a:p>
            <a:pPr marL="342900" indent="-342900">
              <a:buSzPct val="100000"/>
              <a:buChar char="•"/>
            </a:pPr>
            <a:r>
              <a:rPr lang="en-US" sz="1100" dirty="0">
                <a:solidFill>
                  <a:srgbClr val="475569"/>
                </a:solidFill>
              </a:rPr>
              <a:t>24/7 support</a:t>
            </a:r>
            <a:endParaRPr lang="en-US" sz="1100" dirty="0"/>
          </a:p>
          <a:p>
            <a:pPr marL="342900" indent="-342900">
              <a:buSzPct val="100000"/>
              <a:buChar char="•"/>
            </a:pPr>
            <a:r>
              <a:rPr lang="en-US" sz="1100" dirty="0">
                <a:solidFill>
                  <a:srgbClr val="475569"/>
                </a:solidFill>
              </a:rPr>
              <a:t>Unlimited users</a:t>
            </a:r>
            <a:endParaRPr lang="en-US" sz="1100" dirty="0"/>
          </a:p>
        </p:txBody>
      </p:sp>
      <p:sp>
        <p:nvSpPr>
          <p:cNvPr id="17" name="Text 15"/>
          <p:cNvSpPr/>
          <p:nvPr/>
        </p:nvSpPr>
        <p:spPr>
          <a:xfrm>
            <a:off x="731502" y="6446520"/>
            <a:ext cx="8534187" cy="274320"/>
          </a:xfrm>
          <a:prstGeom prst="rect">
            <a:avLst/>
          </a:prstGeom>
          <a:noFill/>
          <a:ln/>
        </p:spPr>
        <p:txBody>
          <a:bodyPr wrap="square" rtlCol="0" anchor="t"/>
          <a:lstStyle/>
          <a:p>
            <a:pPr algn="l" indent="0" marL="0">
              <a:buNone/>
            </a:pPr>
            <a:endParaRPr lang="en-US" sz="1000" dirty="0"/>
          </a:p>
        </p:txBody>
      </p:sp>
      <p:sp>
        <p:nvSpPr>
          <p:cNvPr id="18" name="Text 16"/>
          <p:cNvSpPr/>
          <p:nvPr/>
        </p:nvSpPr>
        <p:spPr>
          <a:xfrm>
            <a:off x="10728692" y="6446520"/>
            <a:ext cx="975336" cy="274320"/>
          </a:xfrm>
          <a:prstGeom prst="rect">
            <a:avLst/>
          </a:prstGeom>
          <a:noFill/>
          <a:ln/>
        </p:spPr>
        <p:txBody>
          <a:bodyPr wrap="square" rtlCol="0" anchor="t"/>
          <a:lstStyle/>
          <a:p>
            <a:pPr algn="r" indent="0" marL="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Pitchonix Pitch Deck</dc:title>
  <dc:subject>PptxGenJS Presentation</dc:subject>
  <dc:creator>Pitchonix</dc:creator>
  <cp:lastModifiedBy>Pitchonix</cp:lastModifiedBy>
  <cp:revision>1</cp:revision>
  <dcterms:created xsi:type="dcterms:W3CDTF">2026-05-20T06:44:44Z</dcterms:created>
  <dcterms:modified xsi:type="dcterms:W3CDTF">2026-05-20T06:44:44Z</dcterms:modified>
</cp:coreProperties>
</file>